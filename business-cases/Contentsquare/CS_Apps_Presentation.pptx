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800" b="1" i="0">
                <a:solidFill>
                  <a:srgbClr val="31D891"/>
                </a:solidFill>
                <a:latin typeface="Lato"/>
              </a:rPr>
              <a:t>CASE STUDY — DANIEL AMÉZQUITA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Lato"/>
              </a:rPr>
              <a:t>Part 1: Investment Decision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400" b="0" i="0">
                <a:solidFill>
                  <a:srgbClr val="B3B3CC"/>
                </a:solidFill>
                <a:latin typeface="Lato"/>
              </a:rPr>
              <a:t>Hypothesis &amp; Data Exploration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1000" b="0" i="0">
                <a:solidFill>
                  <a:srgbClr val="000000"/>
                </a:solidFill>
                <a:latin typeface="Lato"/>
              </a:rPr>
              <a:t/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100" b="1" i="0">
                <a:solidFill>
                  <a:srgbClr val="E6E6F0"/>
                </a:solidFill>
                <a:latin typeface="Lato"/>
              </a:rPr>
              <a:t>The Product Director wants to know: should we stop, maintain, or increase investment in CS Apps?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1D891"/>
                </a:solidFill>
                <a:latin typeface="Lato"/>
              </a:rPr>
              <a:t>1.</a:t>
            </a:r>
            <a:r>
              <a:rPr sz="1100" b="0" i="0">
                <a:solidFill>
                  <a:srgbClr val="B3B3CC"/>
                </a:solidFill>
                <a:latin typeface="Lato"/>
              </a:rPr>
              <a:t>  What hypotheses frame the investment decision?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1D891"/>
                </a:solidFill>
                <a:latin typeface="Lato"/>
              </a:rPr>
              <a:t>2.</a:t>
            </a:r>
            <a:r>
              <a:rPr sz="1100" b="0" i="0">
                <a:solidFill>
                  <a:srgbClr val="B3B3CC"/>
                </a:solidFill>
                <a:latin typeface="Lato"/>
              </a:rPr>
              <a:t>  What does the data say — and where is data quality a problem?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1D891"/>
                </a:solidFill>
                <a:latin typeface="Lato"/>
              </a:rPr>
              <a:t>3.</a:t>
            </a:r>
            <a:r>
              <a:rPr sz="1100" b="0" i="0">
                <a:solidFill>
                  <a:srgbClr val="B3B3CC"/>
                </a:solidFill>
                <a:latin typeface="Lato"/>
              </a:rPr>
              <a:t>  What 2–3 insights answer the question?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1D891"/>
                </a:solidFill>
                <a:latin typeface="Lato"/>
              </a:rPr>
              <a:t>4.</a:t>
            </a:r>
            <a:r>
              <a:rPr sz="1100" b="0" i="0">
                <a:solidFill>
                  <a:srgbClr val="B3B3CC"/>
                </a:solidFill>
                <a:latin typeface="Lato"/>
              </a:rPr>
              <a:t>  What additional data would deepen the analysis?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1D891"/>
                </a:solidFill>
                <a:latin typeface="Lato"/>
              </a:rPr>
              <a:t>5.</a:t>
            </a:r>
            <a:r>
              <a:rPr sz="1100" b="0" i="0">
                <a:solidFill>
                  <a:srgbClr val="B3B3CC"/>
                </a:solidFill>
                <a:latin typeface="Lato"/>
              </a:rPr>
              <a:t>  What is the strategic recommendation?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291840"/>
            <a:ext cx="914400" cy="38100"/>
          </a:xfrm>
          <a:prstGeom prst="rect">
            <a:avLst/>
          </a:prstGeom>
          <a:solidFill>
            <a:srgbClr val="31D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Lato"/>
              </a:rPr>
              <a:t>Revenue is growing but delivery is broken — increase investment to fix before the renewal cliff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333333"/>
                </a:solidFill>
                <a:latin typeface="Lato"/>
              </a:rPr>
              <a:t>CS Apps shows strong revenue traction (+37% ACV, +30% accounts in 12 months) but faces a structural disconnect between selling, adoption and delivering value. Only 15% of accounts are currently live in production, 71% have zero certified users, and the health rate has declined from 63% to 54% in 10 months. $13.1M in renewal pipeline (38% of total) sits with unhealthy accounts, with a $16.3M Q4 cliff where 44% of UFR is at risk.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00000"/>
                </a:solidFill>
                <a:latin typeface="Lato"/>
              </a:rPr>
              <a:t>Recommendation: Increase investment — conditionally. The thesis is not "grow faster" but "fix the adoption chain before the renewal cliff converts into churn."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333333"/>
                </a:solidFill>
                <a:latin typeface="Lato"/>
              </a:rPr>
              <a:t>Acquisition is strong (revenue is growing) → but adoption is broken (clients aren't going live or engaging) → which puts retention at risk (renewals are deteriorating).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666666"/>
                </a:solidFill>
                <a:latin typeface="Lato"/>
              </a:rPr>
              <a:t>ANALYTICAL FRAMEWORK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Lato"/>
              </a:rPr>
              <a:t>The analysis is structured around three pillars that form a causal chain — each pillar feeds the next: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0040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3302000"/>
            <a:ext cx="3169920" cy="272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PILLAR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P1 — Acquisition &amp; Growth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Revenue &amp; account base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CORE QUESTION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Is CS Apps generating and growing revenue?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STATUS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Strong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SUMMARY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+37% ACV, +30% accounts — demand is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20040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8640" y="3302000"/>
            <a:ext cx="3169920" cy="272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PILLAR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P2 — Adoption &amp; Engagement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Implementation, certification &amp; usage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CORE QUESTION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Are clients reaching time-to-value, adopting, and engaging?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STATUS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Broken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SUMMARY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85% not live, 71% zero certified users, shallow engagement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20040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6240" y="3302000"/>
            <a:ext cx="3169920" cy="272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PILLAR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P3 — Retention &amp; ARR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Renewal pipeline &amp; health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CORE QUESTION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Will this revenue renew or churn?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STATUS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Deteriorating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666666"/>
                </a:solidFill>
                <a:latin typeface="Lato"/>
              </a:rPr>
              <a:t>SUMMARY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Health declining, $13.1M at-risk UFR, flawed health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Reading this analysis: </a:t>
            </a:r>
            <a:r>
              <a:rPr sz="900" b="0" i="0">
                <a:solidFill>
                  <a:srgbClr val="333333"/>
                </a:solidFill>
                <a:latin typeface="Lato"/>
              </a:rPr>
              <a:t>If acquisition is strong but adoption is broken, then retention will inevitably deteriorate. The investment decision depends on whether the adoption gap is fixable — and whether there is time to fix it before renewals hit.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Lato"/>
              </a:rPr>
              <a:t>P1: +37% ACV and +30% accounts in 12 months — demand is real, the problem is not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333333"/>
                </a:solidFill>
                <a:latin typeface="Lato"/>
              </a:rPr>
              <a:t>P1 Acquisition &amp; Growth — Is CS Apps generating and growing revenue meaningfully?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H1 — Revenue &amp; Account Growth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0292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Metric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Jan 2023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Dec 2023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Change</a:t>
                      </a:r>
                    </a:p>
                  </a:txBody>
                  <a:tcPr anchor="ctr" marL="50800" marR="50800" marT="25400" marB="25400"/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Total CS Apps ACV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$11.3M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$15.5M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+37%</a:t>
                      </a:r>
                    </a:p>
                  </a:txBody>
                  <a:tcPr anchor="ctr" marL="50800" marR="50800" marT="25400" marB="25400"/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Number of Accounts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134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174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+30%</a:t>
                      </a:r>
                    </a:p>
                  </a:txBody>
                  <a:tcPr anchor="ctr" marL="50800" marR="50800" marT="25400" marB="25400"/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Mean ACV per account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~$84K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~$89K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Stable</a:t>
                      </a:r>
                    </a:p>
                  </a:txBody>
                  <a:tcPr anchor="ctr" marL="50800" marR="50800" marT="25400" marB="254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Revenue is growing driven by new account acquisition, not price increases. The median ACV remains stable around $60K, suggesting consistent deal sizes with the growth coming from volume.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H7 — High-Value Segment Opportunity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37160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Vertical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Accounts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Mean ACV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% Healthy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Share of base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Total ACV (Dec)</a:t>
                      </a:r>
                    </a:p>
                  </a:txBody>
                  <a:tcPr anchor="ctr" marL="50800" marR="50800" marT="25400" marB="25400"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Telco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10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$234K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53%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5.7%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$2.7M</a:t>
                      </a:r>
                    </a:p>
                  </a:txBody>
                  <a:tcPr anchor="ctr" marL="50800" marR="50800" marT="25400" marB="25400"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General Retailer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46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$92K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60%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26.4%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$4.4M</a:t>
                      </a:r>
                    </a:p>
                  </a:txBody>
                  <a:tcPr anchor="ctr" marL="50800" marR="50800" marT="25400" marB="25400"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Energy, Utilities &amp; Resources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8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$84K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53%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4.6%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$0.8M</a:t>
                      </a:r>
                    </a:p>
                  </a:txBody>
                  <a:tcPr anchor="ctr" marL="50800" marR="50800" marT="25400" marB="25400"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Food &amp; Beverages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14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$82K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57%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8.0%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$1.1M</a:t>
                      </a:r>
                    </a:p>
                  </a:txBody>
                  <a:tcPr anchor="ctr" marL="50800" marR="50800" marT="25400" marB="25400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2743200"/>
          <a:ext cx="54864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Geo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Accounts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Mean ACV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% Healthy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Share of base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Total ACV (Dec)</a:t>
                      </a:r>
                    </a:p>
                  </a:txBody>
                  <a:tcPr anchor="ctr" marL="50800" marR="50800" marT="25400" marB="25400"/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Americas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42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$113K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52%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24.1%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$4.8M</a:t>
                      </a:r>
                    </a:p>
                  </a:txBody>
                  <a:tcPr anchor="ctr" marL="50800" marR="50800" marT="25400" marB="25400"/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APJ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11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$92K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62%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6.3%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$1.4M</a:t>
                      </a:r>
                    </a:p>
                  </a:txBody>
                  <a:tcPr anchor="ctr" marL="50800" marR="50800" marT="25400" marB="25400"/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EMEA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121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$74K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62%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69.5%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$9.2M</a:t>
                      </a:r>
                    </a:p>
                  </a:txBody>
                  <a:tcPr anchor="ctr" marL="50800" marR="50800" marT="25400" marB="2540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37490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Telco delivers 2.8x the average ACV but only 53% health. Americas is the highest-ACV geo but the least healthy (52%).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0000"/>
                </a:solidFill>
                <a:latin typeface="Lato"/>
              </a:rPr>
              <a:t>P1 verdict: Acquisition is strong. CS Apps is selling well and growing. The problem is not demand — it's what happens after the sale.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Lato"/>
              </a:rPr>
              <a:t>P2: 85% of accounts are not live and 71% have zero certified users — adoption is the broken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333333"/>
                </a:solidFill>
                <a:latin typeface="Lato"/>
              </a:rPr>
              <a:t>P2 Adoption &amp; Engagement — Are clients reaching time-to-value, adopting, and engaging?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H4 — Implementation Bottleneck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Status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Count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% of Total</a:t>
                      </a:r>
                    </a:p>
                  </a:txBody>
                  <a:tcPr anchor="ctr"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NULL / Untracked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53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29%</a:t>
                      </a:r>
                    </a:p>
                  </a:txBody>
                  <a:tcPr anchor="ctr"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Not started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8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4%</a:t>
                      </a:r>
                    </a:p>
                  </a:txBody>
                  <a:tcPr anchor="ctr"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Started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14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8%</a:t>
                      </a:r>
                    </a:p>
                  </a:txBody>
                  <a:tcPr anchor="ctr"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Partially implemented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18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10%</a:t>
                      </a:r>
                    </a:p>
                  </a:txBody>
                  <a:tcPr anchor="ctr"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Implemented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60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32%</a:t>
                      </a:r>
                    </a:p>
                  </a:txBody>
                  <a:tcPr anchor="ctr"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Partially lived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5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3%</a:t>
                      </a:r>
                    </a:p>
                  </a:txBody>
                  <a:tcPr anchor="ctr" marL="50800" marR="50800" marT="25400" marB="25400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Lived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27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15%</a:t>
                      </a:r>
                    </a:p>
                  </a:txBody>
                  <a:tcPr anchor="ctr" marL="50800" marR="50800" marT="25400" marB="254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Lato"/>
              </a:rPr>
              <a:t>Only 27 (15%) "Lived"; 60 (32%) at "Implemented"; 53 (29%) untracked. 85% not in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H6 — Shallow Module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1 in 4 sessions is on the Homepage. Users who reach Zoning, Workspace, or Error Analysis show higher engagement.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82880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Module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% of Sessions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Avg Sessions/User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Note</a:t>
                      </a:r>
                    </a:p>
                  </a:txBody>
                  <a:tcPr anchor="ctr" marL="50800" marR="50800" marT="25400" marB="25400"/>
                </a:tc>
              </a:tr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Homepage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25.7%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2.94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Navigation, not value</a:t>
                      </a:r>
                    </a:p>
                  </a:txBody>
                  <a:tcPr anchor="ctr" marL="50800" marR="50800" marT="25400" marB="25400"/>
                </a:tc>
              </a:tr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Zoning Analysis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18.2%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3.81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Core analytics</a:t>
                      </a:r>
                    </a:p>
                  </a:txBody>
                  <a:tcPr anchor="ctr" marL="50800" marR="50800" marT="25400" marB="25400"/>
                </a:tc>
              </a:tr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Journey Analysis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11.3%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2.76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Core analytics</a:t>
                      </a:r>
                    </a:p>
                  </a:txBody>
                  <a:tcPr anchor="ctr" marL="50800" marR="50800" marT="25400" marB="25400"/>
                </a:tc>
              </a:tr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Workspace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7.4%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4.03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High stickiness</a:t>
                      </a:r>
                    </a:p>
                  </a:txBody>
                  <a:tcPr anchor="ctr" marL="50800" marR="50800" marT="25400" marB="25400"/>
                </a:tc>
              </a:tr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Session Replay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6.4%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3.60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Core analytics</a:t>
                      </a:r>
                    </a:p>
                  </a:txBody>
                  <a:tcPr anchor="ctr" marL="50800" marR="50800" marT="25400" marB="25400"/>
                </a:tc>
              </a:tr>
              <a:tr h="235134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Error Analysis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Lato"/>
                        </a:rPr>
                        <a:t>0.6%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4.36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Highest stickiness</a:t>
                      </a:r>
                    </a:p>
                  </a:txBody>
                  <a:tcPr anchor="ctr" marL="50800" marR="50800" marT="25400" marB="2540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3657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H2 — Certification &amp; Adoption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97763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Avg certified users per account: </a:t>
            </a:r>
            <a:r>
              <a:rPr sz="900" b="0" i="0">
                <a:solidFill>
                  <a:srgbClr val="333333"/>
                </a:solidFill>
                <a:latin typeface="Lato"/>
              </a:rPr>
              <a:t>0.69 (CS Digital: 18.1) — </a:t>
            </a:r>
            <a:r>
              <a:rPr sz="900" b="1" i="0">
                <a:solidFill>
                  <a:srgbClr val="000000"/>
                </a:solidFill>
                <a:latin typeface="Lato"/>
              </a:rPr>
              <a:t>26x gap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Accounts with 0 certified users: </a:t>
            </a:r>
            <a:r>
              <a:rPr sz="900" b="0" i="0">
                <a:solidFill>
                  <a:srgbClr val="333333"/>
                </a:solidFill>
                <a:latin typeface="Lato"/>
              </a:rPr>
              <a:t>71.4% (132/185)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Avg sessions per user per month: </a:t>
            </a:r>
            <a:r>
              <a:rPr sz="900" b="0" i="0">
                <a:solidFill>
                  <a:srgbClr val="333333"/>
                </a:solidFill>
                <a:latin typeface="Lato"/>
              </a:rPr>
              <a:t>2.84 — 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0000"/>
                </a:solidFill>
                <a:latin typeface="Lato"/>
              </a:rPr>
              <a:t>P2 verdict: Adoption is the broken link. 85% of accounts are not live. Those that are live have almost no certified users and shallow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Lato"/>
              </a:rPr>
              <a:t>P3: $13.1M in renewals sits with unhealthy accounts — retention is deteriorating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333333"/>
                </a:solidFill>
                <a:latin typeface="Lato"/>
              </a:rPr>
              <a:t>P3 Retention &amp; ARR — Will the revenue CS Apps has created survive renewal, or is it at risk of churn?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H5 — Renewal Pipeline at Risk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Fiscal Quarter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Total UFR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Renewing Accts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% Accts Healthy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% UFR Healthy</a:t>
                      </a:r>
                    </a:p>
                  </a:txBody>
                  <a:tcPr anchor="ctr" marL="50800" marR="50800" marT="25400" marB="25400"/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FQ 2022-11-01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$5.0M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20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60%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57%</a:t>
                      </a:r>
                    </a:p>
                  </a:txBody>
                  <a:tcPr anchor="ctr" marL="50800" marR="50800" marT="25400" marB="25400"/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FQ 2023-02-01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$2.8M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16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62%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58%</a:t>
                      </a:r>
                    </a:p>
                  </a:txBody>
                  <a:tcPr anchor="ctr" marL="50800" marR="50800" marT="25400" marB="25400"/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FQ 2023-05-01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$5.1M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23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87%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88%</a:t>
                      </a:r>
                    </a:p>
                  </a:txBody>
                  <a:tcPr anchor="ctr" marL="50800" marR="50800" marT="25400" marB="25400"/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FQ 2023-08-01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$5.4M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17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59%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Lato"/>
                        </a:rPr>
                        <a:t>62%</a:t>
                      </a:r>
                    </a:p>
                  </a:txBody>
                  <a:tcPr anchor="ctr" marL="50800" marR="50800" marT="25400" marB="25400"/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FQ 2023-11-01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$16.3M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33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58%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56%</a:t>
                      </a:r>
                    </a:p>
                  </a:txBody>
                  <a:tcPr anchor="ctr" marL="50800" marR="50800" marT="25400" marB="254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371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Lato"/>
              </a:rPr>
              <a:t>$13.1M of total UFR (37.9%) sits with unhealthy accounts. The Q4 concentration ($16.3M = 47% of full-year renewal pipeline) amplifies the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P3 verdict: Retention is deteriorating. Health is declining, $13.1M in renewals is at risk, and the health metric itself is unreliable.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Lato"/>
              </a:rPr>
              <a:t>Five actions close the delivery gap before the Q4 renewal cliff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333333"/>
                </a:solidFill>
                <a:latin typeface="Lato"/>
              </a:rPr>
              <a:t>Five actions close the delivery gap before Q4 — with three data pipeline fixes that are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Action Plan by Pillar (OKR)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Pillar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Objective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KPI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Initiative</a:t>
                      </a:r>
                    </a:p>
                  </a:txBody>
                  <a:tcPr anchor="ctr" marL="50800" marR="50800" marT="25400" marB="25400"/>
                </a:tc>
              </a:tr>
              <a:tr h="243840">
                <a:tc rowSpan="3"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P2 Adoption</a:t>
                      </a:r>
                    </a:p>
                  </a:txBody>
                  <a:tcPr anchor="ctr" marL="50800" marR="50800" marT="25400" marB="25400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Improve engagement and adoption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"Lived" rate: 15% → 40%+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Accelerate implementation</a:t>
                      </a:r>
                    </a:p>
                  </a:txBody>
                  <a:tcPr anchor="ctr" marL="50800" marR="50800" marT="25400" marB="25400"/>
                </a:tc>
              </a:tr>
              <a:tr h="243840">
                <a:tc vMerge="1"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/>
                      </a:r>
                    </a:p>
                  </a:txBody>
                  <a:tcPr anchor="ctr" marL="50800" marR="50800" marT="25400" marB="25400"/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/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0 → 3+ certified users/account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Drive certification</a:t>
                      </a:r>
                    </a:p>
                  </a:txBody>
                  <a:tcPr anchor="ctr" marL="50800" marR="50800" marT="25400" marB="25400"/>
                </a:tc>
              </a:tr>
              <a:tr h="243840">
                <a:tc vMerge="1"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/>
                      </a:r>
                    </a:p>
                  </a:txBody>
                  <a:tcPr anchor="ctr" marL="50800" marR="50800" marT="25400" marB="25400"/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/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Homepage share 26% → 15%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In-product activation flows</a:t>
                      </a:r>
                    </a:p>
                  </a:txBody>
                  <a:tcPr anchor="ctr" marL="50800" marR="50800" marT="25400" marB="25400"/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P1 Acquisition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Sustain revenue and account growth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Benchmark Fashion 73% health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Segment playbooks (Telco &amp; Americas)</a:t>
                      </a:r>
                    </a:p>
                  </a:txBody>
                  <a:tcPr anchor="ctr" marL="50800" marR="50800" marT="25400" marB="25400"/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P3 Retention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Improve retention, secure UFR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Lato"/>
                        </a:rPr>
                        <a:t>CS Apps-specific WAU formula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Rebuild health metric</a:t>
                      </a:r>
                    </a:p>
                  </a:txBody>
                  <a:tcPr anchor="ctr" marL="50800" marR="50800" marT="25400" marB="254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26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Data Quality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NULL Implementation Status</a:t>
            </a:r>
            <a:r>
              <a:rPr sz="700" b="1" i="0">
                <a:solidFill>
                  <a:srgbClr val="333333"/>
                </a:solidFill>
                <a:latin typeface="Lato"/>
              </a:rPr>
              <a:t>  [HIGH]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28.7% — 82 accounts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66666"/>
                </a:solidFill>
                <a:latin typeface="Lato"/>
              </a:rPr>
              <a:t>518 rows untracked; systemic pipeline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NULL Contract Dates</a:t>
            </a:r>
            <a:r>
              <a:rPr sz="700" b="1" i="0">
                <a:solidFill>
                  <a:srgbClr val="333333"/>
                </a:solidFill>
                <a:latin typeface="Lato"/>
              </a:rPr>
              <a:t>  [MEDIUM]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29% start · 28% 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66666"/>
                </a:solidFill>
                <a:latin typeface="Lato"/>
              </a:rPr>
              <a:t>Blocks cohort analysis and time-to-live calculations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AVG_WAU_GLOBAL = 0</a:t>
            </a:r>
            <a:r>
              <a:rPr sz="700" b="1" i="0">
                <a:solidFill>
                  <a:srgbClr val="333333"/>
                </a:solidFill>
                <a:latin typeface="Lato"/>
              </a:rPr>
              <a:t>  [CRITICAL]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156 rows — 49 accounts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66666"/>
                </a:solidFill>
                <a:latin typeface="Lato"/>
              </a:rPr>
              <a:t>Breaks health metric for ~27% of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926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What Else Would Deepen This Analysis?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46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700" b="1" i="0">
                <a:solidFill>
                  <a:srgbClr val="31D891"/>
                </a:solidFill>
                <a:latin typeface="Lato"/>
              </a:rPr>
              <a:t>SALES  </a:t>
            </a:r>
            <a:r>
              <a:rPr sz="800" b="0" i="0">
                <a:solidFill>
                  <a:srgbClr val="333333"/>
                </a:solidFill>
                <a:latin typeface="Lato"/>
              </a:rPr>
              <a:t>Win/loss data by competitor — are we losing to Glassbox or FullStory?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700" b="1" i="0">
                <a:solidFill>
                  <a:srgbClr val="31D891"/>
                </a:solidFill>
                <a:latin typeface="Lato"/>
              </a:rPr>
              <a:t>SALES  </a:t>
            </a:r>
            <a:r>
              <a:rPr sz="800" b="0" i="0">
                <a:solidFill>
                  <a:srgbClr val="333333"/>
                </a:solidFill>
                <a:latin typeface="Lato"/>
              </a:rPr>
              <a:t>Cross-sell attach rate — CS Apps penetration into the CS Digital base (growth ceiling)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700" b="1" i="0">
                <a:solidFill>
                  <a:srgbClr val="31D891"/>
                </a:solidFill>
                <a:latin typeface="Lato"/>
              </a:rPr>
              <a:t>CS TEAM  </a:t>
            </a:r>
            <a:r>
              <a:rPr sz="800" b="0" i="0">
                <a:solidFill>
                  <a:srgbClr val="333333"/>
                </a:solidFill>
                <a:latin typeface="Lato"/>
              </a:rPr>
              <a:t>Actual renewal outcomes for early cohorts — does unhealthy predict churn?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700" b="1" i="0">
                <a:solidFill>
                  <a:srgbClr val="31D891"/>
                </a:solidFill>
                <a:latin typeface="Lato"/>
              </a:rPr>
              <a:t>CS TEAM  </a:t>
            </a:r>
            <a:r>
              <a:rPr sz="800" b="0" i="0">
                <a:solidFill>
                  <a:srgbClr val="333333"/>
                </a:solidFill>
                <a:latin typeface="Lato"/>
              </a:rPr>
              <a:t>Time-to-go-live by segment — is the implementation bottleneck structural or improving?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700" b="1" i="0">
                <a:solidFill>
                  <a:srgbClr val="31D891"/>
                </a:solidFill>
                <a:latin typeface="Lato"/>
              </a:rPr>
              <a:t>MARKET  </a:t>
            </a:r>
            <a:r>
              <a:rPr sz="800" b="0" i="0">
                <a:solidFill>
                  <a:srgbClr val="333333"/>
                </a:solidFill>
                <a:latin typeface="Lato"/>
              </a:rPr>
              <a:t>TAM by vertical — is Telco a large market or a saturated niche?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700" b="1" i="0">
                <a:solidFill>
                  <a:srgbClr val="31D891"/>
                </a:solidFill>
                <a:latin typeface="Lato"/>
              </a:rPr>
              <a:t>CUSTOMER  </a:t>
            </a:r>
            <a:r>
              <a:rPr sz="800" b="0" i="0">
                <a:solidFill>
                  <a:srgbClr val="333333"/>
                </a:solidFill>
                <a:latin typeface="Lato"/>
              </a:rPr>
              <a:t>Exit interview verbatims from churned accounts — actual reason for leaving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800" b="1" i="0">
                <a:solidFill>
                  <a:srgbClr val="31D891"/>
                </a:solidFill>
                <a:latin typeface="Lato"/>
              </a:rPr>
              <a:t>ADDITIONAL QUESTION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Lato"/>
              </a:rPr>
              <a:t>Part 2: AI-Era Pricing &amp; Health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400" b="0" i="0">
                <a:solidFill>
                  <a:srgbClr val="B3B3CC"/>
                </a:solidFill>
                <a:latin typeface="Lato"/>
              </a:rPr>
              <a:t>Monetization &amp; Account Health Redefinition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1000" b="0" i="0">
                <a:solidFill>
                  <a:srgbClr val="000000"/>
                </a:solidFill>
                <a:latin typeface="Lato"/>
              </a:rPr>
              <a:t/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100" b="1" i="0">
                <a:solidFill>
                  <a:srgbClr val="E6E6F0"/>
                </a:solidFill>
                <a:latin typeface="Lato"/>
              </a:rPr>
              <a:t>Sense increases value per session but Contentsquare captures none of it. How do we adapt?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1D891"/>
                </a:solidFill>
                <a:latin typeface="Lato"/>
              </a:rPr>
              <a:t>1.</a:t>
            </a:r>
            <a:r>
              <a:rPr sz="1100" b="0" i="0">
                <a:solidFill>
                  <a:srgbClr val="B3B3CC"/>
                </a:solidFill>
                <a:latin typeface="Lato"/>
              </a:rPr>
              <a:t>  Should Sense Analyst be priced as a flat-fee add-on, success-based tier, or credit-based model?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1D891"/>
                </a:solidFill>
                <a:latin typeface="Lato"/>
              </a:rPr>
              <a:t>2.</a:t>
            </a:r>
            <a:r>
              <a:rPr sz="1100" b="0" i="0">
                <a:solidFill>
                  <a:srgbClr val="B3B3CC"/>
                </a:solidFill>
                <a:latin typeface="Lato"/>
              </a:rPr>
              <a:t>  What analysis determines the right pricing model?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1D891"/>
                </a:solidFill>
                <a:latin typeface="Lato"/>
              </a:rPr>
              <a:t>3.</a:t>
            </a:r>
            <a:r>
              <a:rPr sz="1100" b="0" i="0">
                <a:solidFill>
                  <a:srgbClr val="B3B3CC"/>
                </a:solidFill>
                <a:latin typeface="Lato"/>
              </a:rPr>
              <a:t>  How do we redefine account health when AI reduces human time-in-tool?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291840"/>
            <a:ext cx="914400" cy="38100"/>
          </a:xfrm>
          <a:prstGeom prst="rect">
            <a:avLst/>
          </a:prstGeom>
          <a:solidFill>
            <a:srgbClr val="31D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Lato"/>
              </a:rPr>
              <a:t>Daily Sense Analyst quotas by tier capture AI value without replacing session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333333"/>
                </a:solidFill>
                <a:latin typeface="Lato"/>
              </a:rPr>
              <a:t>How do we capture the extra value Sense delivers per session?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Lato"/>
              </a:rPr>
              <a:t>Introduce daily Sense Analyst query quotas by tier </a:t>
            </a:r>
            <a:r>
              <a:rPr sz="1100" b="1" i="0">
                <a:solidFill>
                  <a:srgbClr val="000000"/>
                </a:solidFill>
                <a:latin typeface="Lato"/>
              </a:rPr>
              <a:t>(Quota + Tier model)</a:t>
            </a:r>
            <a:r>
              <a:rPr sz="1100" b="0" i="0">
                <a:solidFill>
                  <a:srgbClr val="000000"/>
                </a:solidFill>
                <a:latin typeface="Lato"/>
              </a:rPr>
              <a:t>, with Sense Chat included free across all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How the Market Is Pricing AI Today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0972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Model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How It Works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Companies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Lato"/>
                        </a:rPr>
                        <a:t>Verdict for CS</a:t>
                      </a:r>
                    </a:p>
                  </a:txBody>
                  <a:tcPr anchor="ctr" marL="50800" marR="50800" marT="25400" marB="25400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Flat-Fee Add-On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Fixed $/year for unlimited AI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Gainsight (Insight Agent add-on)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Simple but misaligned — leaves value on table</a:t>
                      </a:r>
                    </a:p>
                  </a:txBody>
                  <a:tcPr anchor="ctr" marL="50800" marR="50800" marT="25400" marB="25400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Usage / Token-Based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Pay per AI query or token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PostHog, Anthropic API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Transparent but volatile for budgets</a:t>
                      </a:r>
                    </a:p>
                  </a:txBody>
                  <a:tcPr anchor="ctr" marL="50800" marR="50800" marT="25400" marB="25400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Outcome-Based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Pay per resolved outcome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Intercom Fin ($0.99/ticket)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Hard in analytics</a:t>
                      </a:r>
                    </a:p>
                  </a:txBody>
                  <a:tcPr anchor="ctr" marL="50800" marR="50800" marT="25400" marB="25400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Quota + Tier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Daily/monthly cap per plan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Anthropic Claude Pro, Salesforce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333333"/>
                          </a:solidFill>
                          <a:latin typeface="Lato"/>
                        </a:rPr>
                        <a:t>Best fit — frequent friction drives upgrades</a:t>
                      </a:r>
                    </a:p>
                  </a:txBody>
                  <a:tcPr anchor="ctr" marL="50800" marR="50800" marT="25400" marB="2540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08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Lato"/>
              </a:rPr>
              <a:t>• Analytics competitors (Amplitude, Mixpanel, Heap) currently bundle AI into tiers for free. When AI becomes the primary interface, bundling alone won't capture the value.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• The Anthropic parallel is instructive: </a:t>
            </a:r>
            <a:r>
              <a:rPr sz="900" b="0" i="0">
                <a:solidFill>
                  <a:srgbClr val="333333"/>
                </a:solidFill>
                <a:latin typeface="Lato"/>
              </a:rPr>
              <a:t>Claude Pro users hit a daily usage cap and must either wait or upgrade. This creates frequent, low-friction upgrade pressure without fully blocking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Lato"/>
              </a:rPr>
              <a:t>A 5-query daily cap covers 85% of users and creates natural upgrade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333333"/>
                </a:solidFill>
                <a:latin typeface="Lato"/>
              </a:rPr>
              <a:t>Daily Sense Analyst caps by plan; Sense Chat included free on all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6974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5640" y="1143000"/>
            <a:ext cx="2443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Lato"/>
              </a:rPr>
              <a:t>Free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00000"/>
                </a:solidFill>
                <a:latin typeface="Lato"/>
              </a:rPr>
              <a:t>€0 / forever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Up to 200K monthly sessions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Session Replay &amp; heatmaps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Sense Chat included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Sense Analyst not included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051560"/>
            <a:ext cx="26974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64560" y="1143000"/>
            <a:ext cx="2443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Lato"/>
              </a:rPr>
              <a:t>Growth ★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31D891"/>
                </a:solidFill>
                <a:latin typeface="Lato"/>
              </a:rPr>
              <a:t>From €39 / month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Starting at 7K monthly sessions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Sense Chat unlimited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Sense Analyst 5 queries/day*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Covers typical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51560"/>
            <a:ext cx="26974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3480" y="1143000"/>
            <a:ext cx="2443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Lato"/>
              </a:rPr>
              <a:t>Pro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00000"/>
                </a:solidFill>
                <a:latin typeface="Lato"/>
              </a:rPr>
              <a:t>Let's talk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Starting at 1M monthly sessions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Sense Analyst 25 queries/day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Multi-session replay summaries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Precision filtering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051560"/>
            <a:ext cx="26974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2400" y="1143000"/>
            <a:ext cx="2443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Lato"/>
              </a:rPr>
              <a:t>Enterprise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00000"/>
                </a:solidFill>
                <a:latin typeface="Lato"/>
              </a:rPr>
              <a:t>Let's talk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Custom sessions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Sense Analyst unlimited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Error summaries &amp; data feeds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1D891"/>
                </a:solidFill>
                <a:latin typeface="Lato"/>
              </a:rPr>
              <a:t>✓ </a:t>
            </a:r>
            <a:r>
              <a:rPr sz="800" b="0" i="0">
                <a:solidFill>
                  <a:srgbClr val="333333"/>
                </a:solidFill>
                <a:latin typeface="Lato"/>
              </a:rPr>
              <a:t>Unlimited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Why this model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1. Captures uncaptured value</a:t>
            </a:r>
            <a:r>
              <a:rPr sz="800" b="0" i="0">
                <a:solidFill>
                  <a:srgbClr val="333333"/>
                </a:solidFill>
                <a:latin typeface="Lato"/>
              </a:rPr>
              <a:t> — Revenue tied to AI usage, not just session volume.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069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2. Preserves session pricing</a:t>
            </a:r>
            <a:r>
              <a:rPr sz="800" b="0" i="0">
                <a:solidFill>
                  <a:srgbClr val="333333"/>
                </a:solidFill>
                <a:latin typeface="Lato"/>
              </a:rPr>
              <a:t> — Sessions remain the base layer; Sense quota is additive.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069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3. Simple to explain</a:t>
            </a:r>
            <a:r>
              <a:rPr sz="800" b="0" i="0">
                <a:solidFill>
                  <a:srgbClr val="333333"/>
                </a:solidFill>
                <a:latin typeface="Lato"/>
              </a:rPr>
              <a:t> — Global daily cap per tier is transparent and easy for procurement.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069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4. Natural upgrade path</a:t>
            </a:r>
            <a:r>
              <a:rPr sz="800" b="0" i="0">
                <a:solidFill>
                  <a:srgbClr val="333333"/>
                </a:solidFill>
                <a:latin typeface="Lato"/>
              </a:rPr>
              <a:t> — Regular friction drives tier upgrades without blocking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5640" y="4846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*Why 5/day? </a:t>
            </a:r>
            <a:r>
              <a:rPr sz="800" b="0" i="0">
                <a:solidFill>
                  <a:srgbClr val="333333"/>
                </a:solidFill>
                <a:latin typeface="Lato"/>
              </a:rPr>
              <a:t>On average, customers have 3 sessions daily. If this is a proxy for AI query demand, 5/day covers most users while creating a clear upgrade incentive.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000000"/>
                </a:solidFill>
                <a:latin typeface="Lato"/>
              </a:rPr>
              <a:t>How it works: </a:t>
            </a:r>
            <a:r>
              <a:rPr sz="800" b="0" i="0">
                <a:solidFill>
                  <a:srgbClr val="333333"/>
                </a:solidFill>
                <a:latin typeface="Lato"/>
              </a:rPr>
              <a:t>A Growth analyst runs 5 Sense Analyst queries in a day. The 6th is blocked with: "Your team hit today's 5-query limit. Upgrade to Pro for 25/day, or cap resets tomorrow." No work is lost.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Lato"/>
              </a:rPr>
              <a:t>Usage is concentrated — top 20% drive 65% of sessions, validating tiered quotas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Lato"/>
              </a:rPr>
              <a:t>Is usage heavily spread across accounts or concentrated among a few? The data shows concentration: top 20% = 65% of sessions, P90 vs. median = 6x.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1">
                <a:solidFill>
                  <a:srgbClr val="333333"/>
                </a:solidFill>
                <a:latin typeface="Lato"/>
              </a:rPr>
              <a:t>Why did we discard all other models?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Flat-Fee Add-On (discarded)</a:t>
            </a:r>
            <a:r>
              <a:rPr sz="900" b="0" i="0">
                <a:solidFill>
                  <a:srgbClr val="333333"/>
                </a:solidFill>
                <a:latin typeface="Lato"/>
              </a:rPr>
              <a:t> — Usage is too concentrated (top 20% = 65%). Heavy users would be subsidized.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Success-Based Tier (discarded)</a:t>
            </a:r>
            <a:r>
              <a:rPr sz="900" b="0" i="0">
                <a:solidFill>
                  <a:srgbClr val="333333"/>
                </a:solidFill>
                <a:latin typeface="Lato"/>
              </a:rPr>
              <a:t> — Cannot prove usage drives outcomes with current data.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Credit-Based (needs more data)</a:t>
            </a:r>
            <a:r>
              <a:rPr sz="900" b="0" i="0">
                <a:solidFill>
                  <a:srgbClr val="333333"/>
                </a:solidFill>
                <a:latin typeface="Lato"/>
              </a:rPr>
              <a:t> — Cannot test; Sense query logs not available yet.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Quota + Tier (confirmed)</a:t>
            </a:r>
            <a:r>
              <a:rPr sz="900" b="0" i="0">
                <a:solidFill>
                  <a:srgbClr val="333333"/>
                </a:solidFill>
                <a:latin typeface="Lato"/>
              </a:rPr>
              <a:t> — Natural daily breakpoints exist (P50, P75, P90). 5/day creates friction without blocking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1">
                <a:solidFill>
                  <a:srgbClr val="333333"/>
                </a:solidFill>
                <a:latin typeface="Lato"/>
              </a:rPr>
              <a:t>Additional data that would sharpen this decision?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Sense query logs (type, cost, timestamp)</a:t>
            </a:r>
            <a:r>
              <a:rPr sz="900" b="0" i="0">
                <a:solidFill>
                  <a:srgbClr val="333333"/>
                </a:solidFill>
                <a:latin typeface="Lato"/>
              </a:rPr>
              <a:t> — Whether different query types cost enough to justify credits.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Query → action taken (export, share)</a:t>
            </a:r>
            <a:r>
              <a:rPr sz="900" b="0" i="0">
                <a:solidFill>
                  <a:srgbClr val="333333"/>
                </a:solidFill>
                <a:latin typeface="Lato"/>
              </a:rPr>
              <a:t> — Whether usage correlates with outcomes; would revive Success-Based.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Renewal outcomes by usage tier</a:t>
            </a:r>
            <a:r>
              <a:rPr sz="900" b="0" i="0">
                <a:solidFill>
                  <a:srgbClr val="333333"/>
                </a:solidFill>
                <a:latin typeface="Lato"/>
              </a:rPr>
              <a:t> — Whether heavy users actually renew at higher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Lato"/>
              </a:rPr>
              <a:t>The current health metric masks adoption failure — a three-pillar formula fixes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333333"/>
                </a:solidFill>
                <a:latin typeface="Lato"/>
              </a:rPr>
              <a:t>A new three-pillar formula accounts for AI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If Non-Live / Partially Live: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000000"/>
                </a:solidFill>
                <a:latin typeface="Lato"/>
              </a:rPr>
              <a:t>Score = (0.15 x P1) + (0.25 x P2) + (0.60 x 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If Live: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000000"/>
                </a:solidFill>
                <a:latin typeface="Lato"/>
              </a:rPr>
              <a:t>Score = (0.3 x P2) + (0.7 x P3)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0000"/>
                </a:solidFill>
                <a:latin typeface="Lato"/>
              </a:rPr>
              <a:t>Healthy = Score &gt;=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Pillars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56616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240" y="26517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P1 — Implementation Velocity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 i="1">
                <a:solidFill>
                  <a:srgbClr val="333333"/>
                </a:solidFill>
                <a:latin typeface="Lato"/>
              </a:rPr>
              <a:t>Non-Live only. Dropped once Live.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Lato"/>
              </a:rPr>
              <a:t>100 if within window; linear decay beyond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606040"/>
            <a:ext cx="356616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279" y="26517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P2 — Adoption (ACV-Normalized)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 i="1">
                <a:solidFill>
                  <a:srgbClr val="333333"/>
                </a:solidFill>
                <a:latin typeface="Lato"/>
              </a:rPr>
              <a:t>min(Cert/(ACV x a), 1) x 100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Lato"/>
              </a:rPr>
              <a:t>Normalizes adoption vs account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2606040"/>
            <a:ext cx="356616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8318" y="26517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Lato"/>
              </a:rPr>
              <a:t>P3 — Engagement Quality (AI-Aware)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 i="1">
                <a:solidFill>
                  <a:srgbClr val="333333"/>
                </a:solidFill>
                <a:latin typeface="Lato"/>
              </a:rPr>
              <a:t>max(0, 100 - ACV/(WAU + Sense Q/wk) x b)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Lato"/>
              </a:rPr>
              <a:t>WAU + Sense Queries/week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Illustrative Examples (Dummy 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1">
                <a:solidFill>
                  <a:srgbClr val="333333"/>
                </a:solidFill>
                <a:latin typeface="Lato"/>
              </a:rPr>
              <a:t>Assumed constants: a = 1/100,000 · b = 1/500 · Expected implementation window = 90 days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4206240"/>
          <a:ext cx="109728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527"/>
                <a:gridCol w="997527"/>
                <a:gridCol w="997527"/>
                <a:gridCol w="997527"/>
                <a:gridCol w="997527"/>
                <a:gridCol w="997527"/>
                <a:gridCol w="997527"/>
                <a:gridCol w="997527"/>
                <a:gridCol w="997527"/>
                <a:gridCol w="997527"/>
                <a:gridCol w="997530"/>
              </a:tblGrid>
              <a:tr h="213360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Account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ACV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Status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Impl Days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WAU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Sense Q/wk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Cert Users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P1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P2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P3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Score</a:t>
                      </a:r>
                    </a:p>
                  </a:txBody>
                  <a:tcPr anchor="ctr" marL="50800" marR="50800" marT="25400" marB="25400"/>
                </a:tc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A — Acme Corp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$200K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Non-Live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210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2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1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50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15 ⚠</a:t>
                      </a:r>
                    </a:p>
                  </a:txBody>
                  <a:tcPr anchor="ctr" marL="50800" marR="50800" marT="25400" marB="25400"/>
                </a:tc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C — Gamma Inc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$200K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Live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—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20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10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5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—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100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Lato"/>
                        </a:rPr>
                        <a:t>87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92 ✓</a:t>
                      </a:r>
                    </a:p>
                  </a:txBody>
                  <a:tcPr anchor="ctr" marL="50800" marR="50800" marT="25400" marB="25400"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Lato"/>
              </a:rPr>
              <a:t>Data Required to Validate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530352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133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Input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Current Estimate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Lato"/>
                        </a:rPr>
                        <a:t>Needed To Calibrate</a:t>
                      </a:r>
                    </a:p>
                  </a:txBody>
                  <a:tcPr anchor="ctr" marL="50800" marR="50800" marT="25400" marB="25400"/>
                </a:tc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a — adoption rate per $ ACV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333333"/>
                          </a:solidFill>
                          <a:latin typeface="Lato"/>
                        </a:rPr>
                        <a:t>1/100,000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333333"/>
                          </a:solidFill>
                          <a:latin typeface="Lato"/>
                        </a:rPr>
                        <a:t>Distribution of (Cert Users / ACV) across live accounts</a:t>
                      </a:r>
                    </a:p>
                  </a:txBody>
                  <a:tcPr anchor="ctr" marL="50800" marR="50800" marT="25400" marB="25400"/>
                </a:tc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b — engagement sensitivity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333333"/>
                          </a:solidFill>
                          <a:latin typeface="Lato"/>
                        </a:rPr>
                        <a:t>1/500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333333"/>
                          </a:solidFill>
                          <a:latin typeface="Lato"/>
                        </a:rPr>
                        <a:t>Distribution of ACV / (WAU + Sense Q) ratios</a:t>
                      </a:r>
                    </a:p>
                  </a:txBody>
                  <a:tcPr anchor="ctr" marL="50800" marR="50800" marT="25400" marB="25400"/>
                </a:tc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Break-even ratio (P3 = 50)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333333"/>
                          </a:solidFill>
                          <a:latin typeface="Lato"/>
                        </a:rPr>
                        <a:t>~$25K ACV per (WAU+Q)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333333"/>
                          </a:solidFill>
                          <a:latin typeface="Lato"/>
                        </a:rPr>
                        <a:t>Recalibrate once Sense query telemetry available</a:t>
                      </a:r>
                    </a:p>
                  </a:txBody>
                  <a:tcPr anchor="ctr" marL="50800" marR="50800" marT="25400" marB="25400"/>
                </a:tc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Expected implementation window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333333"/>
                          </a:solidFill>
                          <a:latin typeface="Lato"/>
                        </a:rPr>
                        <a:t>TBD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333333"/>
                          </a:solidFill>
                          <a:latin typeface="Lato"/>
                        </a:rPr>
                        <a:t>Historical time-to-go-live by account tier</a:t>
                      </a:r>
                    </a:p>
                  </a:txBody>
                  <a:tcPr anchor="ctr" marL="50800" marR="50800" marT="25400" marB="25400"/>
                </a:tc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Lato"/>
                        </a:rPr>
                        <a:t>Sense Queries/week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333333"/>
                          </a:solidFill>
                          <a:latin typeface="Lato"/>
                        </a:rPr>
                        <a:t>Not yet available</a:t>
                      </a:r>
                    </a:p>
                  </a:txBody>
                  <a:tcPr anchor="ctr" marL="50800" marR="50800" marT="25400" marB="25400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333333"/>
                          </a:solidFill>
                          <a:latin typeface="Lato"/>
                        </a:rPr>
                        <a:t>Requires Sense query logs at account level</a:t>
                      </a:r>
                    </a:p>
                  </a:txBody>
                  <a:tcPr anchor="ctr"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