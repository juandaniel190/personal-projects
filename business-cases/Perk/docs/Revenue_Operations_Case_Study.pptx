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1675"/>
  <p:notesSz cx="6858000" cy="9144000"/>
  <p:embeddedFontLst>
    <p:embeddedFont>
      <p:font typeface="La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0" roundtripDataSignature="AMtx7mize6LtGzd2kLyR2mThIW7ZbpNc9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3A93DC-2D8A-4D3F-B172-B62327CD2B9D}">
  <a:tblStyle styleId="{5C3A93DC-2D8A-4D3F-B172-B62327CD2B9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Lato-bold.fntdata"/><Relationship Id="rId16" Type="http://schemas.openxmlformats.org/officeDocument/2006/relationships/font" Target="fonts/Lato-regular.fntdata"/><Relationship Id="rId5" Type="http://schemas.openxmlformats.org/officeDocument/2006/relationships/slideMaster" Target="slideMasters/slideMaster1.xml"/><Relationship Id="rId19" Type="http://schemas.openxmlformats.org/officeDocument/2006/relationships/font" Target="fonts/Lato-boldItalic.fntdata"/><Relationship Id="rId6" Type="http://schemas.openxmlformats.org/officeDocument/2006/relationships/notesMaster" Target="notesMasters/notesMaster1.xml"/><Relationship Id="rId18"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913707cf1_1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c913707cf1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c913707cf1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c913707cf1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p:nvPr>
            <p:ph idx="2" type="pic"/>
          </p:nvPr>
        </p:nvSpPr>
        <p:spPr>
          <a:xfrm>
            <a:off x="1792288" y="612775"/>
            <a:ext cx="5486400" cy="4114800"/>
          </a:xfrm>
          <a:prstGeom prst="rect">
            <a:avLst/>
          </a:prstGeom>
          <a:noFill/>
          <a:ln>
            <a:noFill/>
          </a:ln>
        </p:spPr>
      </p:sp>
      <p:sp>
        <p:nvSpPr>
          <p:cNvPr id="64" name="Google Shape;64;p1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EB"/>
        </a:solidFill>
      </p:bgPr>
    </p:bg>
    <p:spTree>
      <p:nvGrpSpPr>
        <p:cNvPr id="83" name="Shape 83"/>
        <p:cNvGrpSpPr/>
        <p:nvPr/>
      </p:nvGrpSpPr>
      <p:grpSpPr>
        <a:xfrm>
          <a:off x="0" y="0"/>
          <a:ext cx="0" cy="0"/>
          <a:chOff x="0" y="0"/>
          <a:chExt cx="0" cy="0"/>
        </a:xfrm>
      </p:grpSpPr>
      <p:sp>
        <p:nvSpPr>
          <p:cNvPr id="84" name="Google Shape;84;p1"/>
          <p:cNvSpPr/>
          <p:nvPr/>
        </p:nvSpPr>
        <p:spPr>
          <a:xfrm>
            <a:off x="430850" y="560225"/>
            <a:ext cx="6853500" cy="356640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85" name="Google Shape;85;p1"/>
          <p:cNvSpPr/>
          <p:nvPr/>
        </p:nvSpPr>
        <p:spPr>
          <a:xfrm>
            <a:off x="1070930" y="1017425"/>
            <a:ext cx="2560200" cy="411600"/>
          </a:xfrm>
          <a:prstGeom prst="roundRect">
            <a:avLst>
              <a:gd fmla="val 16667" name="adj"/>
            </a:avLst>
          </a:prstGeom>
          <a:solidFill>
            <a:srgbClr val="BEF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86" name="Google Shape;86;p1"/>
          <p:cNvSpPr txBox="1"/>
          <p:nvPr/>
        </p:nvSpPr>
        <p:spPr>
          <a:xfrm>
            <a:off x="1070925" y="1094519"/>
            <a:ext cx="2560200" cy="292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0A0A0A"/>
                </a:solidFill>
                <a:latin typeface="Lato"/>
                <a:ea typeface="Lato"/>
                <a:cs typeface="Lato"/>
                <a:sym typeface="Lato"/>
              </a:rPr>
              <a:t>REVENUE OPERATIONS</a:t>
            </a:r>
            <a:endParaRPr>
              <a:latin typeface="Lato"/>
              <a:ea typeface="Lato"/>
              <a:cs typeface="Lato"/>
              <a:sym typeface="Lato"/>
            </a:endParaRPr>
          </a:p>
        </p:txBody>
      </p:sp>
      <p:sp>
        <p:nvSpPr>
          <p:cNvPr id="87" name="Google Shape;87;p1"/>
          <p:cNvSpPr txBox="1"/>
          <p:nvPr/>
        </p:nvSpPr>
        <p:spPr>
          <a:xfrm>
            <a:off x="1070925" y="1748950"/>
            <a:ext cx="56328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0A0A0A"/>
                </a:solidFill>
                <a:latin typeface="Lato"/>
                <a:ea typeface="Lato"/>
                <a:cs typeface="Lato"/>
                <a:sym typeface="Lato"/>
              </a:rPr>
              <a:t>Sales Team Performance Analysis</a:t>
            </a:r>
            <a:endParaRPr>
              <a:latin typeface="Lato"/>
              <a:ea typeface="Lato"/>
              <a:cs typeface="Lato"/>
              <a:sym typeface="Lato"/>
            </a:endParaRPr>
          </a:p>
          <a:p>
            <a:pPr indent="0" lvl="0" marL="0" marR="0" rtl="0" algn="l">
              <a:spcBef>
                <a:spcPts val="1200"/>
              </a:spcBef>
              <a:spcAft>
                <a:spcPts val="0"/>
              </a:spcAft>
              <a:buNone/>
            </a:pPr>
            <a:r>
              <a:rPr i="0" lang="en-US" sz="1800" u="none" cap="none" strike="noStrike">
                <a:solidFill>
                  <a:srgbClr val="5A5A5A"/>
                </a:solidFill>
                <a:latin typeface="Lato"/>
                <a:ea typeface="Lato"/>
                <a:cs typeface="Lato"/>
                <a:sym typeface="Lato"/>
              </a:rPr>
              <a:t>Q4 Quarterly Review  |  PerkyTravel</a:t>
            </a:r>
            <a:endParaRPr>
              <a:latin typeface="Lato"/>
              <a:ea typeface="Lato"/>
              <a:cs typeface="Lato"/>
              <a:sym typeface="Lato"/>
            </a:endParaRPr>
          </a:p>
        </p:txBody>
      </p:sp>
      <p:sp>
        <p:nvSpPr>
          <p:cNvPr id="88" name="Google Shape;88;p1"/>
          <p:cNvSpPr txBox="1"/>
          <p:nvPr/>
        </p:nvSpPr>
        <p:spPr>
          <a:xfrm>
            <a:off x="1070930" y="3394865"/>
            <a:ext cx="5486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8A8A82"/>
                </a:solidFill>
                <a:latin typeface="Lato"/>
                <a:ea typeface="Lato"/>
                <a:cs typeface="Lato"/>
                <a:sym typeface="Lato"/>
              </a:rPr>
              <a:t>Prepared by Juan Daniel </a:t>
            </a:r>
            <a:r>
              <a:rPr lang="en-US" sz="1200">
                <a:solidFill>
                  <a:srgbClr val="8A8A82"/>
                </a:solidFill>
                <a:latin typeface="Lato"/>
                <a:ea typeface="Lato"/>
                <a:cs typeface="Lato"/>
                <a:sym typeface="Lato"/>
              </a:rPr>
              <a:t>Amézquita</a:t>
            </a:r>
            <a:r>
              <a:rPr i="0" lang="en-US" sz="1200" u="none" cap="none" strike="noStrike">
                <a:solidFill>
                  <a:srgbClr val="8A8A82"/>
                </a:solidFill>
                <a:latin typeface="Lato"/>
                <a:ea typeface="Lato"/>
                <a:cs typeface="Lato"/>
                <a:sym typeface="Lato"/>
              </a:rPr>
              <a:t>  |  Revenue Operations Manager</a:t>
            </a:r>
            <a:endParaRPr>
              <a:latin typeface="Lato"/>
              <a:ea typeface="Lato"/>
              <a:cs typeface="Lato"/>
              <a:sym typeface="Lato"/>
            </a:endParaRPr>
          </a:p>
        </p:txBody>
      </p:sp>
      <p:sp>
        <p:nvSpPr>
          <p:cNvPr id="89" name="Google Shape;89;p1"/>
          <p:cNvSpPr txBox="1"/>
          <p:nvPr/>
        </p:nvSpPr>
        <p:spPr>
          <a:xfrm>
            <a:off x="11155680" y="6446520"/>
            <a:ext cx="7314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900" u="none" cap="none" strike="noStrike">
                <a:solidFill>
                  <a:srgbClr val="8A8A82"/>
                </a:solidFill>
                <a:latin typeface="Lato"/>
                <a:ea typeface="Lato"/>
                <a:cs typeface="Lato"/>
                <a:sym typeface="Lato"/>
              </a:rPr>
              <a:t>1/7</a:t>
            </a:r>
            <a:endParaRPr>
              <a:latin typeface="Lato"/>
              <a:ea typeface="Lato"/>
              <a:cs typeface="Lato"/>
              <a:sym typeface="Lato"/>
            </a:endParaRPr>
          </a:p>
        </p:txBody>
      </p:sp>
      <p:pic>
        <p:nvPicPr>
          <p:cNvPr id="90" name="Google Shape;90;p1"/>
          <p:cNvPicPr preferRelativeResize="0"/>
          <p:nvPr/>
        </p:nvPicPr>
        <p:blipFill>
          <a:blip r:embed="rId3">
            <a:alphaModFix/>
          </a:blip>
          <a:stretch>
            <a:fillRect/>
          </a:stretch>
        </p:blipFill>
        <p:spPr>
          <a:xfrm>
            <a:off x="7975211" y="686025"/>
            <a:ext cx="4075825" cy="6171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EB"/>
        </a:solidFill>
      </p:bgPr>
    </p:bg>
    <p:spTree>
      <p:nvGrpSpPr>
        <p:cNvPr id="94" name="Shape 94"/>
        <p:cNvGrpSpPr/>
        <p:nvPr/>
      </p:nvGrpSpPr>
      <p:grpSpPr>
        <a:xfrm>
          <a:off x="0" y="0"/>
          <a:ext cx="0" cy="0"/>
          <a:chOff x="0" y="0"/>
          <a:chExt cx="0" cy="0"/>
        </a:xfrm>
      </p:grpSpPr>
      <p:sp>
        <p:nvSpPr>
          <p:cNvPr id="95" name="Google Shape;95;p2"/>
          <p:cNvSpPr txBox="1"/>
          <p:nvPr/>
        </p:nvSpPr>
        <p:spPr>
          <a:xfrm>
            <a:off x="731525" y="365750"/>
            <a:ext cx="108213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500" u="none" cap="none" strike="noStrike">
                <a:solidFill>
                  <a:srgbClr val="0A0A0A"/>
                </a:solidFill>
                <a:latin typeface="Lato"/>
                <a:ea typeface="Lato"/>
                <a:cs typeface="Lato"/>
                <a:sym typeface="Lato"/>
              </a:rPr>
              <a:t>The team is underperforming on SQL generation, but pipeline quality partially compensates</a:t>
            </a:r>
            <a:endParaRPr sz="1300">
              <a:latin typeface="Lato"/>
              <a:ea typeface="Lato"/>
              <a:cs typeface="Lato"/>
              <a:sym typeface="Lato"/>
            </a:endParaRPr>
          </a:p>
        </p:txBody>
      </p:sp>
      <p:sp>
        <p:nvSpPr>
          <p:cNvPr id="96" name="Google Shape;96;p2"/>
          <p:cNvSpPr txBox="1"/>
          <p:nvPr/>
        </p:nvSpPr>
        <p:spPr>
          <a:xfrm>
            <a:off x="731520" y="1562476"/>
            <a:ext cx="10058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300" u="none" cap="none" strike="noStrike">
                <a:solidFill>
                  <a:srgbClr val="8A8A82"/>
                </a:solidFill>
                <a:latin typeface="Lato"/>
                <a:ea typeface="Lato"/>
                <a:cs typeface="Lato"/>
                <a:sym typeface="Lato"/>
              </a:rPr>
              <a:t>Overall: 57.7% SQL attainment vs. 78.7% pipeline attainment across 81 AEs in 4 territories</a:t>
            </a:r>
            <a:endParaRPr>
              <a:latin typeface="Lato"/>
              <a:ea typeface="Lato"/>
              <a:cs typeface="Lato"/>
              <a:sym typeface="Lato"/>
            </a:endParaRPr>
          </a:p>
        </p:txBody>
      </p:sp>
      <p:sp>
        <p:nvSpPr>
          <p:cNvPr id="97" name="Google Shape;97;p2"/>
          <p:cNvSpPr/>
          <p:nvPr/>
        </p:nvSpPr>
        <p:spPr>
          <a:xfrm>
            <a:off x="731525" y="1992200"/>
            <a:ext cx="2472300" cy="137160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98" name="Google Shape;98;p2"/>
          <p:cNvSpPr txBox="1"/>
          <p:nvPr/>
        </p:nvSpPr>
        <p:spPr>
          <a:xfrm>
            <a:off x="866381" y="2129360"/>
            <a:ext cx="22029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none" cap="none" strike="noStrike">
                <a:solidFill>
                  <a:srgbClr val="0A0A0A"/>
                </a:solidFill>
                <a:latin typeface="Lato"/>
                <a:ea typeface="Lato"/>
                <a:cs typeface="Lato"/>
                <a:sym typeface="Lato"/>
              </a:rPr>
              <a:t>81</a:t>
            </a:r>
            <a:endParaRPr>
              <a:latin typeface="Lato"/>
              <a:ea typeface="Lato"/>
              <a:cs typeface="Lato"/>
              <a:sym typeface="Lato"/>
            </a:endParaRPr>
          </a:p>
        </p:txBody>
      </p:sp>
      <p:sp>
        <p:nvSpPr>
          <p:cNvPr id="99" name="Google Shape;99;p2"/>
          <p:cNvSpPr txBox="1"/>
          <p:nvPr/>
        </p:nvSpPr>
        <p:spPr>
          <a:xfrm>
            <a:off x="866381" y="2815160"/>
            <a:ext cx="22029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200" u="none" cap="none" strike="noStrike">
                <a:solidFill>
                  <a:srgbClr val="5A5A5A"/>
                </a:solidFill>
                <a:latin typeface="Lato"/>
                <a:ea typeface="Lato"/>
                <a:cs typeface="Lato"/>
                <a:sym typeface="Lato"/>
              </a:rPr>
              <a:t>Account Executives</a:t>
            </a:r>
            <a:endParaRPr>
              <a:latin typeface="Lato"/>
              <a:ea typeface="Lato"/>
              <a:cs typeface="Lato"/>
              <a:sym typeface="Lato"/>
            </a:endParaRPr>
          </a:p>
        </p:txBody>
      </p:sp>
      <p:sp>
        <p:nvSpPr>
          <p:cNvPr id="100" name="Google Shape;100;p2"/>
          <p:cNvSpPr/>
          <p:nvPr/>
        </p:nvSpPr>
        <p:spPr>
          <a:xfrm>
            <a:off x="3473602" y="1992200"/>
            <a:ext cx="2472300" cy="137160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01" name="Google Shape;101;p2"/>
          <p:cNvSpPr txBox="1"/>
          <p:nvPr/>
        </p:nvSpPr>
        <p:spPr>
          <a:xfrm>
            <a:off x="3608458" y="2129360"/>
            <a:ext cx="22029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none" cap="none" strike="noStrike">
                <a:solidFill>
                  <a:srgbClr val="0A0A0A"/>
                </a:solidFill>
                <a:latin typeface="Lato"/>
                <a:ea typeface="Lato"/>
                <a:cs typeface="Lato"/>
                <a:sym typeface="Lato"/>
              </a:rPr>
              <a:t>4</a:t>
            </a:r>
            <a:endParaRPr>
              <a:latin typeface="Lato"/>
              <a:ea typeface="Lato"/>
              <a:cs typeface="Lato"/>
              <a:sym typeface="Lato"/>
            </a:endParaRPr>
          </a:p>
        </p:txBody>
      </p:sp>
      <p:sp>
        <p:nvSpPr>
          <p:cNvPr id="102" name="Google Shape;102;p2"/>
          <p:cNvSpPr txBox="1"/>
          <p:nvPr/>
        </p:nvSpPr>
        <p:spPr>
          <a:xfrm>
            <a:off x="3608458" y="2815160"/>
            <a:ext cx="22029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200" u="none" cap="none" strike="noStrike">
                <a:solidFill>
                  <a:srgbClr val="5A5A5A"/>
                </a:solidFill>
                <a:latin typeface="Lato"/>
                <a:ea typeface="Lato"/>
                <a:cs typeface="Lato"/>
                <a:sym typeface="Lato"/>
              </a:rPr>
              <a:t>Territories</a:t>
            </a:r>
            <a:endParaRPr>
              <a:latin typeface="Lato"/>
              <a:ea typeface="Lato"/>
              <a:cs typeface="Lato"/>
              <a:sym typeface="Lato"/>
            </a:endParaRPr>
          </a:p>
        </p:txBody>
      </p:sp>
      <p:sp>
        <p:nvSpPr>
          <p:cNvPr id="103" name="Google Shape;103;p2"/>
          <p:cNvSpPr/>
          <p:nvPr/>
        </p:nvSpPr>
        <p:spPr>
          <a:xfrm>
            <a:off x="6215680" y="1992200"/>
            <a:ext cx="2472300" cy="137160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04" name="Google Shape;104;p2"/>
          <p:cNvSpPr txBox="1"/>
          <p:nvPr/>
        </p:nvSpPr>
        <p:spPr>
          <a:xfrm>
            <a:off x="6350537" y="2129360"/>
            <a:ext cx="22029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none" cap="none" strike="noStrike">
                <a:solidFill>
                  <a:srgbClr val="E04F5F"/>
                </a:solidFill>
                <a:latin typeface="Lato"/>
                <a:ea typeface="Lato"/>
                <a:cs typeface="Lato"/>
                <a:sym typeface="Lato"/>
              </a:rPr>
              <a:t>57.7%</a:t>
            </a:r>
            <a:endParaRPr>
              <a:latin typeface="Lato"/>
              <a:ea typeface="Lato"/>
              <a:cs typeface="Lato"/>
              <a:sym typeface="Lato"/>
            </a:endParaRPr>
          </a:p>
        </p:txBody>
      </p:sp>
      <p:sp>
        <p:nvSpPr>
          <p:cNvPr id="105" name="Google Shape;105;p2"/>
          <p:cNvSpPr txBox="1"/>
          <p:nvPr/>
        </p:nvSpPr>
        <p:spPr>
          <a:xfrm>
            <a:off x="6350537" y="2815160"/>
            <a:ext cx="22029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200" u="none" cap="none" strike="noStrike">
                <a:solidFill>
                  <a:srgbClr val="5A5A5A"/>
                </a:solidFill>
                <a:latin typeface="Lato"/>
                <a:ea typeface="Lato"/>
                <a:cs typeface="Lato"/>
                <a:sym typeface="Lato"/>
              </a:rPr>
              <a:t>SQL Attainment</a:t>
            </a:r>
            <a:endParaRPr>
              <a:latin typeface="Lato"/>
              <a:ea typeface="Lato"/>
              <a:cs typeface="Lato"/>
              <a:sym typeface="Lato"/>
            </a:endParaRPr>
          </a:p>
        </p:txBody>
      </p:sp>
      <p:sp>
        <p:nvSpPr>
          <p:cNvPr id="106" name="Google Shape;106;p2"/>
          <p:cNvSpPr/>
          <p:nvPr/>
        </p:nvSpPr>
        <p:spPr>
          <a:xfrm>
            <a:off x="8957759" y="1992200"/>
            <a:ext cx="2472300" cy="137160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07" name="Google Shape;107;p2"/>
          <p:cNvSpPr txBox="1"/>
          <p:nvPr/>
        </p:nvSpPr>
        <p:spPr>
          <a:xfrm>
            <a:off x="9092616" y="2129360"/>
            <a:ext cx="22029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none" cap="none" strike="noStrike">
                <a:solidFill>
                  <a:srgbClr val="6BBF3B"/>
                </a:solidFill>
                <a:latin typeface="Lato"/>
                <a:ea typeface="Lato"/>
                <a:cs typeface="Lato"/>
                <a:sym typeface="Lato"/>
              </a:rPr>
              <a:t>78.7%</a:t>
            </a:r>
            <a:endParaRPr>
              <a:latin typeface="Lato"/>
              <a:ea typeface="Lato"/>
              <a:cs typeface="Lato"/>
              <a:sym typeface="Lato"/>
            </a:endParaRPr>
          </a:p>
        </p:txBody>
      </p:sp>
      <p:sp>
        <p:nvSpPr>
          <p:cNvPr id="108" name="Google Shape;108;p2"/>
          <p:cNvSpPr txBox="1"/>
          <p:nvPr/>
        </p:nvSpPr>
        <p:spPr>
          <a:xfrm>
            <a:off x="9092616" y="2815160"/>
            <a:ext cx="22029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200" u="none" cap="none" strike="noStrike">
                <a:solidFill>
                  <a:srgbClr val="5A5A5A"/>
                </a:solidFill>
                <a:latin typeface="Lato"/>
                <a:ea typeface="Lato"/>
                <a:cs typeface="Lato"/>
                <a:sym typeface="Lato"/>
              </a:rPr>
              <a:t>Pipeline Attainment</a:t>
            </a:r>
            <a:endParaRPr>
              <a:latin typeface="Lato"/>
              <a:ea typeface="Lato"/>
              <a:cs typeface="Lato"/>
              <a:sym typeface="Lato"/>
            </a:endParaRPr>
          </a:p>
        </p:txBody>
      </p:sp>
      <p:sp>
        <p:nvSpPr>
          <p:cNvPr id="109" name="Google Shape;109;p2"/>
          <p:cNvSpPr/>
          <p:nvPr/>
        </p:nvSpPr>
        <p:spPr>
          <a:xfrm>
            <a:off x="731520" y="3473497"/>
            <a:ext cx="10698600" cy="137160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10" name="Google Shape;110;p2"/>
          <p:cNvSpPr txBox="1"/>
          <p:nvPr/>
        </p:nvSpPr>
        <p:spPr>
          <a:xfrm>
            <a:off x="1005840" y="3610657"/>
            <a:ext cx="102414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6BBF3B"/>
                </a:solidFill>
                <a:latin typeface="Lato"/>
                <a:ea typeface="Lato"/>
                <a:cs typeface="Lato"/>
                <a:sym typeface="Lato"/>
              </a:rPr>
              <a:t>Key Insight</a:t>
            </a:r>
            <a:endParaRPr>
              <a:latin typeface="Lato"/>
              <a:ea typeface="Lato"/>
              <a:cs typeface="Lato"/>
              <a:sym typeface="Lato"/>
            </a:endParaRPr>
          </a:p>
          <a:p>
            <a:pPr indent="0" lvl="0" marL="0" marR="0" rtl="0" algn="l">
              <a:spcBef>
                <a:spcPts val="600"/>
              </a:spcBef>
              <a:spcAft>
                <a:spcPts val="0"/>
              </a:spcAft>
              <a:buNone/>
            </a:pPr>
            <a:r>
              <a:rPr i="0" lang="en-US" sz="1200" u="none" cap="none" strike="noStrike">
                <a:solidFill>
                  <a:srgbClr val="5A5A5A"/>
                </a:solidFill>
                <a:latin typeface="Lato"/>
                <a:ea typeface="Lato"/>
                <a:cs typeface="Lato"/>
                <a:sym typeface="Lato"/>
              </a:rPr>
              <a:t>Pipeline attainment outpaces SQL attainment by 21 percentage points. This persistent gap across all territories and ramp stages suggests that while fewer leads are generated, those that convert carry higher deal values. This could indicate either strong qualification discipline or structurally miscalibrated SQL targets that need recalibration.</a:t>
            </a:r>
            <a:endParaRPr>
              <a:latin typeface="Lato"/>
              <a:ea typeface="Lato"/>
              <a:cs typeface="Lato"/>
              <a:sym typeface="Lato"/>
            </a:endParaRPr>
          </a:p>
        </p:txBody>
      </p:sp>
      <p:sp>
        <p:nvSpPr>
          <p:cNvPr id="111" name="Google Shape;111;p2"/>
          <p:cNvSpPr/>
          <p:nvPr/>
        </p:nvSpPr>
        <p:spPr>
          <a:xfrm>
            <a:off x="731520" y="4954787"/>
            <a:ext cx="10698600" cy="164580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12" name="Google Shape;112;p2"/>
          <p:cNvSpPr txBox="1"/>
          <p:nvPr/>
        </p:nvSpPr>
        <p:spPr>
          <a:xfrm>
            <a:off x="1005840" y="5091947"/>
            <a:ext cx="10241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6BBF3B"/>
                </a:solidFill>
                <a:latin typeface="Lato"/>
                <a:ea typeface="Lato"/>
                <a:cs typeface="Lato"/>
                <a:sym typeface="Lato"/>
              </a:rPr>
              <a:t>Territory Snapshot</a:t>
            </a:r>
            <a:endParaRPr>
              <a:latin typeface="Lato"/>
              <a:ea typeface="Lato"/>
              <a:cs typeface="Lato"/>
              <a:sym typeface="Lato"/>
            </a:endParaRPr>
          </a:p>
        </p:txBody>
      </p:sp>
      <p:sp>
        <p:nvSpPr>
          <p:cNvPr id="113" name="Google Shape;113;p2"/>
          <p:cNvSpPr/>
          <p:nvPr/>
        </p:nvSpPr>
        <p:spPr>
          <a:xfrm>
            <a:off x="1005840" y="5503427"/>
            <a:ext cx="2331600" cy="914400"/>
          </a:xfrm>
          <a:prstGeom prst="roundRect">
            <a:avLst>
              <a:gd fmla="val 16667" name="adj"/>
            </a:avLst>
          </a:prstGeom>
          <a:solidFill>
            <a:srgbClr val="FAFAF5"/>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14" name="Google Shape;114;p2"/>
          <p:cNvSpPr txBox="1"/>
          <p:nvPr/>
        </p:nvSpPr>
        <p:spPr>
          <a:xfrm>
            <a:off x="1097280" y="5549147"/>
            <a:ext cx="11886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0A0A0A"/>
                </a:solidFill>
                <a:latin typeface="Lato"/>
                <a:ea typeface="Lato"/>
                <a:cs typeface="Lato"/>
                <a:sym typeface="Lato"/>
              </a:rPr>
              <a:t>EMEA</a:t>
            </a:r>
            <a:endParaRPr>
              <a:latin typeface="Lato"/>
              <a:ea typeface="Lato"/>
              <a:cs typeface="Lato"/>
              <a:sym typeface="Lato"/>
            </a:endParaRPr>
          </a:p>
        </p:txBody>
      </p:sp>
      <p:sp>
        <p:nvSpPr>
          <p:cNvPr id="115" name="Google Shape;115;p2"/>
          <p:cNvSpPr txBox="1"/>
          <p:nvPr/>
        </p:nvSpPr>
        <p:spPr>
          <a:xfrm>
            <a:off x="2286000" y="5549147"/>
            <a:ext cx="9144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1000" u="none" cap="none" strike="noStrike">
                <a:solidFill>
                  <a:srgbClr val="8A8A82"/>
                </a:solidFill>
                <a:latin typeface="Lato"/>
                <a:ea typeface="Lato"/>
                <a:cs typeface="Lato"/>
                <a:sym typeface="Lato"/>
              </a:rPr>
              <a:t>13 AEs</a:t>
            </a:r>
            <a:endParaRPr>
              <a:latin typeface="Lato"/>
              <a:ea typeface="Lato"/>
              <a:cs typeface="Lato"/>
              <a:sym typeface="Lato"/>
            </a:endParaRPr>
          </a:p>
        </p:txBody>
      </p:sp>
      <p:sp>
        <p:nvSpPr>
          <p:cNvPr id="116" name="Google Shape;116;p2"/>
          <p:cNvSpPr txBox="1"/>
          <p:nvPr/>
        </p:nvSpPr>
        <p:spPr>
          <a:xfrm>
            <a:off x="1097280" y="5869187"/>
            <a:ext cx="2103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6BBF3B"/>
                </a:solidFill>
                <a:latin typeface="Lato"/>
                <a:ea typeface="Lato"/>
                <a:cs typeface="Lato"/>
                <a:sym typeface="Lato"/>
              </a:rPr>
              <a:t>Pipeline: 89%</a:t>
            </a:r>
            <a:endParaRPr>
              <a:latin typeface="Lato"/>
              <a:ea typeface="Lato"/>
              <a:cs typeface="Lato"/>
              <a:sym typeface="Lato"/>
            </a:endParaRPr>
          </a:p>
        </p:txBody>
      </p:sp>
      <p:sp>
        <p:nvSpPr>
          <p:cNvPr id="117" name="Google Shape;117;p2"/>
          <p:cNvSpPr/>
          <p:nvPr/>
        </p:nvSpPr>
        <p:spPr>
          <a:xfrm>
            <a:off x="3611880" y="5503427"/>
            <a:ext cx="2331600" cy="914400"/>
          </a:xfrm>
          <a:prstGeom prst="roundRect">
            <a:avLst>
              <a:gd fmla="val 16667" name="adj"/>
            </a:avLst>
          </a:prstGeom>
          <a:solidFill>
            <a:srgbClr val="FAFAF5"/>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18" name="Google Shape;118;p2"/>
          <p:cNvSpPr txBox="1"/>
          <p:nvPr/>
        </p:nvSpPr>
        <p:spPr>
          <a:xfrm>
            <a:off x="3703320" y="5549147"/>
            <a:ext cx="11886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0A0A0A"/>
                </a:solidFill>
                <a:latin typeface="Lato"/>
                <a:ea typeface="Lato"/>
                <a:cs typeface="Lato"/>
                <a:sym typeface="Lato"/>
              </a:rPr>
              <a:t>North America</a:t>
            </a:r>
            <a:endParaRPr>
              <a:latin typeface="Lato"/>
              <a:ea typeface="Lato"/>
              <a:cs typeface="Lato"/>
              <a:sym typeface="Lato"/>
            </a:endParaRPr>
          </a:p>
        </p:txBody>
      </p:sp>
      <p:sp>
        <p:nvSpPr>
          <p:cNvPr id="119" name="Google Shape;119;p2"/>
          <p:cNvSpPr txBox="1"/>
          <p:nvPr/>
        </p:nvSpPr>
        <p:spPr>
          <a:xfrm>
            <a:off x="4892040" y="5549147"/>
            <a:ext cx="9144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1000" u="none" cap="none" strike="noStrike">
                <a:solidFill>
                  <a:srgbClr val="8A8A82"/>
                </a:solidFill>
                <a:latin typeface="Lato"/>
                <a:ea typeface="Lato"/>
                <a:cs typeface="Lato"/>
                <a:sym typeface="Lato"/>
              </a:rPr>
              <a:t>35 AEs</a:t>
            </a:r>
            <a:endParaRPr>
              <a:latin typeface="Lato"/>
              <a:ea typeface="Lato"/>
              <a:cs typeface="Lato"/>
              <a:sym typeface="Lato"/>
            </a:endParaRPr>
          </a:p>
        </p:txBody>
      </p:sp>
      <p:sp>
        <p:nvSpPr>
          <p:cNvPr id="120" name="Google Shape;120;p2"/>
          <p:cNvSpPr txBox="1"/>
          <p:nvPr/>
        </p:nvSpPr>
        <p:spPr>
          <a:xfrm>
            <a:off x="3703320" y="5869187"/>
            <a:ext cx="2103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6BBF3B"/>
                </a:solidFill>
                <a:latin typeface="Lato"/>
                <a:ea typeface="Lato"/>
                <a:cs typeface="Lato"/>
                <a:sym typeface="Lato"/>
              </a:rPr>
              <a:t>Pipeline: 85%</a:t>
            </a:r>
            <a:endParaRPr>
              <a:latin typeface="Lato"/>
              <a:ea typeface="Lato"/>
              <a:cs typeface="Lato"/>
              <a:sym typeface="Lato"/>
            </a:endParaRPr>
          </a:p>
        </p:txBody>
      </p:sp>
      <p:sp>
        <p:nvSpPr>
          <p:cNvPr id="121" name="Google Shape;121;p2"/>
          <p:cNvSpPr/>
          <p:nvPr/>
        </p:nvSpPr>
        <p:spPr>
          <a:xfrm>
            <a:off x="6217920" y="5503427"/>
            <a:ext cx="2331600" cy="914400"/>
          </a:xfrm>
          <a:prstGeom prst="roundRect">
            <a:avLst>
              <a:gd fmla="val 16667" name="adj"/>
            </a:avLst>
          </a:prstGeom>
          <a:solidFill>
            <a:srgbClr val="FAFAF5"/>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22" name="Google Shape;122;p2"/>
          <p:cNvSpPr txBox="1"/>
          <p:nvPr/>
        </p:nvSpPr>
        <p:spPr>
          <a:xfrm>
            <a:off x="6309360" y="5549147"/>
            <a:ext cx="11886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0A0A0A"/>
                </a:solidFill>
                <a:latin typeface="Lato"/>
                <a:ea typeface="Lato"/>
                <a:cs typeface="Lato"/>
                <a:sym typeface="Lato"/>
              </a:rPr>
              <a:t>LATAM</a:t>
            </a:r>
            <a:endParaRPr>
              <a:latin typeface="Lato"/>
              <a:ea typeface="Lato"/>
              <a:cs typeface="Lato"/>
              <a:sym typeface="Lato"/>
            </a:endParaRPr>
          </a:p>
        </p:txBody>
      </p:sp>
      <p:sp>
        <p:nvSpPr>
          <p:cNvPr id="123" name="Google Shape;123;p2"/>
          <p:cNvSpPr txBox="1"/>
          <p:nvPr/>
        </p:nvSpPr>
        <p:spPr>
          <a:xfrm>
            <a:off x="7498080" y="5549147"/>
            <a:ext cx="9144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1000" u="none" cap="none" strike="noStrike">
                <a:solidFill>
                  <a:srgbClr val="8A8A82"/>
                </a:solidFill>
                <a:latin typeface="Lato"/>
                <a:ea typeface="Lato"/>
                <a:cs typeface="Lato"/>
                <a:sym typeface="Lato"/>
              </a:rPr>
              <a:t>17 AEs</a:t>
            </a:r>
            <a:endParaRPr>
              <a:latin typeface="Lato"/>
              <a:ea typeface="Lato"/>
              <a:cs typeface="Lato"/>
              <a:sym typeface="Lato"/>
            </a:endParaRPr>
          </a:p>
        </p:txBody>
      </p:sp>
      <p:sp>
        <p:nvSpPr>
          <p:cNvPr id="124" name="Google Shape;124;p2"/>
          <p:cNvSpPr txBox="1"/>
          <p:nvPr/>
        </p:nvSpPr>
        <p:spPr>
          <a:xfrm>
            <a:off x="6309360" y="5869187"/>
            <a:ext cx="2103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9EDB3B"/>
                </a:solidFill>
                <a:latin typeface="Lato"/>
                <a:ea typeface="Lato"/>
                <a:cs typeface="Lato"/>
                <a:sym typeface="Lato"/>
              </a:rPr>
              <a:t>Pipeline: 81%</a:t>
            </a:r>
            <a:endParaRPr>
              <a:latin typeface="Lato"/>
              <a:ea typeface="Lato"/>
              <a:cs typeface="Lato"/>
              <a:sym typeface="Lato"/>
            </a:endParaRPr>
          </a:p>
        </p:txBody>
      </p:sp>
      <p:sp>
        <p:nvSpPr>
          <p:cNvPr id="125" name="Google Shape;125;p2"/>
          <p:cNvSpPr/>
          <p:nvPr/>
        </p:nvSpPr>
        <p:spPr>
          <a:xfrm>
            <a:off x="8823960" y="5503427"/>
            <a:ext cx="2331600" cy="914400"/>
          </a:xfrm>
          <a:prstGeom prst="roundRect">
            <a:avLst>
              <a:gd fmla="val 16667" name="adj"/>
            </a:avLst>
          </a:prstGeom>
          <a:solidFill>
            <a:srgbClr val="FAFAF5"/>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26" name="Google Shape;126;p2"/>
          <p:cNvSpPr txBox="1"/>
          <p:nvPr/>
        </p:nvSpPr>
        <p:spPr>
          <a:xfrm>
            <a:off x="8915400" y="5549147"/>
            <a:ext cx="11886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0A0A0A"/>
                </a:solidFill>
                <a:latin typeface="Lato"/>
                <a:ea typeface="Lato"/>
                <a:cs typeface="Lato"/>
                <a:sym typeface="Lato"/>
              </a:rPr>
              <a:t>APAC</a:t>
            </a:r>
            <a:endParaRPr>
              <a:latin typeface="Lato"/>
              <a:ea typeface="Lato"/>
              <a:cs typeface="Lato"/>
              <a:sym typeface="Lato"/>
            </a:endParaRPr>
          </a:p>
        </p:txBody>
      </p:sp>
      <p:sp>
        <p:nvSpPr>
          <p:cNvPr id="127" name="Google Shape;127;p2"/>
          <p:cNvSpPr txBox="1"/>
          <p:nvPr/>
        </p:nvSpPr>
        <p:spPr>
          <a:xfrm>
            <a:off x="10104120" y="5549147"/>
            <a:ext cx="9144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1000" u="none" cap="none" strike="noStrike">
                <a:solidFill>
                  <a:srgbClr val="8A8A82"/>
                </a:solidFill>
                <a:latin typeface="Lato"/>
                <a:ea typeface="Lato"/>
                <a:cs typeface="Lato"/>
                <a:sym typeface="Lato"/>
              </a:rPr>
              <a:t>16 AEs</a:t>
            </a:r>
            <a:endParaRPr>
              <a:latin typeface="Lato"/>
              <a:ea typeface="Lato"/>
              <a:cs typeface="Lato"/>
              <a:sym typeface="Lato"/>
            </a:endParaRPr>
          </a:p>
        </p:txBody>
      </p:sp>
      <p:sp>
        <p:nvSpPr>
          <p:cNvPr id="128" name="Google Shape;128;p2"/>
          <p:cNvSpPr txBox="1"/>
          <p:nvPr/>
        </p:nvSpPr>
        <p:spPr>
          <a:xfrm>
            <a:off x="8915400" y="5869187"/>
            <a:ext cx="2103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E04F5F"/>
                </a:solidFill>
                <a:latin typeface="Lato"/>
                <a:ea typeface="Lato"/>
                <a:cs typeface="Lato"/>
                <a:sym typeface="Lato"/>
              </a:rPr>
              <a:t>Pipeline: 56%</a:t>
            </a:r>
            <a:endParaRPr>
              <a:latin typeface="Lato"/>
              <a:ea typeface="Lato"/>
              <a:cs typeface="Lato"/>
              <a:sym typeface="Lato"/>
            </a:endParaRPr>
          </a:p>
        </p:txBody>
      </p:sp>
      <p:sp>
        <p:nvSpPr>
          <p:cNvPr id="129" name="Google Shape;129;p2"/>
          <p:cNvSpPr txBox="1"/>
          <p:nvPr/>
        </p:nvSpPr>
        <p:spPr>
          <a:xfrm>
            <a:off x="11155680" y="6646427"/>
            <a:ext cx="7314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900" u="none" cap="none" strike="noStrike">
                <a:solidFill>
                  <a:srgbClr val="8A8A82"/>
                </a:solidFill>
                <a:latin typeface="Lato"/>
                <a:ea typeface="Lato"/>
                <a:cs typeface="Lato"/>
                <a:sym typeface="Lato"/>
              </a:rPr>
              <a:t>2/7</a:t>
            </a:r>
            <a:endParaRPr>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EB"/>
        </a:solidFill>
      </p:bgPr>
    </p:bg>
    <p:spTree>
      <p:nvGrpSpPr>
        <p:cNvPr id="133" name="Shape 133"/>
        <p:cNvGrpSpPr/>
        <p:nvPr/>
      </p:nvGrpSpPr>
      <p:grpSpPr>
        <a:xfrm>
          <a:off x="0" y="0"/>
          <a:ext cx="0" cy="0"/>
          <a:chOff x="0" y="0"/>
          <a:chExt cx="0" cy="0"/>
        </a:xfrm>
      </p:grpSpPr>
      <p:sp>
        <p:nvSpPr>
          <p:cNvPr id="134" name="Google Shape;134;p3"/>
          <p:cNvSpPr txBox="1"/>
          <p:nvPr/>
        </p:nvSpPr>
        <p:spPr>
          <a:xfrm>
            <a:off x="731525" y="365750"/>
            <a:ext cx="10972800" cy="892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0A0A0A"/>
                </a:solidFill>
                <a:latin typeface="Lato"/>
                <a:ea typeface="Lato"/>
                <a:cs typeface="Lato"/>
                <a:sym typeface="Lato"/>
              </a:rPr>
              <a:t>EMEA leads across both dimensions; </a:t>
            </a:r>
            <a:br>
              <a:rPr b="1" i="0" lang="en-US" sz="2600" u="none" cap="none" strike="noStrike">
                <a:solidFill>
                  <a:srgbClr val="0A0A0A"/>
                </a:solidFill>
                <a:latin typeface="Lato"/>
                <a:ea typeface="Lato"/>
                <a:cs typeface="Lato"/>
                <a:sym typeface="Lato"/>
              </a:rPr>
            </a:br>
            <a:r>
              <a:rPr b="1" i="0" lang="en-US" sz="2600" u="none" cap="none" strike="noStrike">
                <a:solidFill>
                  <a:srgbClr val="0A0A0A"/>
                </a:solidFill>
                <a:latin typeface="Lato"/>
                <a:ea typeface="Lato"/>
                <a:cs typeface="Lato"/>
                <a:sym typeface="Lato"/>
              </a:rPr>
              <a:t>APAC is the clear underperformer at 56% pipeline</a:t>
            </a:r>
            <a:endParaRPr>
              <a:latin typeface="Lato"/>
              <a:ea typeface="Lato"/>
              <a:cs typeface="Lato"/>
              <a:sym typeface="Lato"/>
            </a:endParaRPr>
          </a:p>
        </p:txBody>
      </p:sp>
      <p:sp>
        <p:nvSpPr>
          <p:cNvPr id="135" name="Google Shape;135;p3"/>
          <p:cNvSpPr/>
          <p:nvPr/>
        </p:nvSpPr>
        <p:spPr>
          <a:xfrm>
            <a:off x="457200" y="1371600"/>
            <a:ext cx="6400800" cy="5305500"/>
          </a:xfrm>
          <a:prstGeom prst="roundRect">
            <a:avLst>
              <a:gd fmla="val 5730"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01_territory.png" id="136" name="Google Shape;136;p3"/>
          <p:cNvPicPr preferRelativeResize="0"/>
          <p:nvPr/>
        </p:nvPicPr>
        <p:blipFill rotWithShape="1">
          <a:blip r:embed="rId3">
            <a:alphaModFix/>
          </a:blip>
          <a:srcRect b="0" l="0" r="0" t="0"/>
          <a:stretch/>
        </p:blipFill>
        <p:spPr>
          <a:xfrm>
            <a:off x="1186297" y="1551469"/>
            <a:ext cx="5489124" cy="3046524"/>
          </a:xfrm>
          <a:prstGeom prst="rect">
            <a:avLst/>
          </a:prstGeom>
          <a:noFill/>
          <a:ln>
            <a:noFill/>
          </a:ln>
        </p:spPr>
      </p:pic>
      <p:sp>
        <p:nvSpPr>
          <p:cNvPr id="137" name="Google Shape;137;p3"/>
          <p:cNvSpPr/>
          <p:nvPr/>
        </p:nvSpPr>
        <p:spPr>
          <a:xfrm>
            <a:off x="7132320" y="1371600"/>
            <a:ext cx="4572000" cy="109728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38" name="Google Shape;138;p3"/>
          <p:cNvSpPr txBox="1"/>
          <p:nvPr/>
        </p:nvSpPr>
        <p:spPr>
          <a:xfrm>
            <a:off x="7315200" y="1463040"/>
            <a:ext cx="22860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6BBF3B"/>
                </a:solidFill>
                <a:latin typeface="Lato"/>
                <a:ea typeface="Lato"/>
                <a:cs typeface="Lato"/>
                <a:sym typeface="Lato"/>
              </a:rPr>
              <a:t>EMEA</a:t>
            </a:r>
            <a:endParaRPr>
              <a:latin typeface="Lato"/>
              <a:ea typeface="Lato"/>
              <a:cs typeface="Lato"/>
              <a:sym typeface="Lato"/>
            </a:endParaRPr>
          </a:p>
        </p:txBody>
      </p:sp>
      <p:sp>
        <p:nvSpPr>
          <p:cNvPr id="139" name="Google Shape;139;p3"/>
          <p:cNvSpPr txBox="1"/>
          <p:nvPr/>
        </p:nvSpPr>
        <p:spPr>
          <a:xfrm>
            <a:off x="7315200" y="1691640"/>
            <a:ext cx="42063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8A8A82"/>
                </a:solidFill>
                <a:latin typeface="Lato"/>
                <a:ea typeface="Lato"/>
                <a:cs typeface="Lato"/>
                <a:sym typeface="Lato"/>
              </a:rPr>
              <a:t>78% SQL | 89% Pipeline</a:t>
            </a:r>
            <a:endParaRPr>
              <a:latin typeface="Lato"/>
              <a:ea typeface="Lato"/>
              <a:cs typeface="Lato"/>
              <a:sym typeface="Lato"/>
            </a:endParaRPr>
          </a:p>
        </p:txBody>
      </p:sp>
      <p:sp>
        <p:nvSpPr>
          <p:cNvPr id="140" name="Google Shape;140;p3"/>
          <p:cNvSpPr txBox="1"/>
          <p:nvPr/>
        </p:nvSpPr>
        <p:spPr>
          <a:xfrm>
            <a:off x="7315200" y="1920240"/>
            <a:ext cx="42063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Top performer. Smallest team (13 AEs) but highest attainment. Fully ramped cohort at 94.6% pipeline. Mature team composition.</a:t>
            </a:r>
            <a:endParaRPr>
              <a:latin typeface="Lato"/>
              <a:ea typeface="Lato"/>
              <a:cs typeface="Lato"/>
              <a:sym typeface="Lato"/>
            </a:endParaRPr>
          </a:p>
        </p:txBody>
      </p:sp>
      <p:sp>
        <p:nvSpPr>
          <p:cNvPr id="141" name="Google Shape;141;p3"/>
          <p:cNvSpPr/>
          <p:nvPr/>
        </p:nvSpPr>
        <p:spPr>
          <a:xfrm>
            <a:off x="7132320" y="2606040"/>
            <a:ext cx="4572000" cy="109728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42" name="Google Shape;142;p3"/>
          <p:cNvSpPr txBox="1"/>
          <p:nvPr/>
        </p:nvSpPr>
        <p:spPr>
          <a:xfrm>
            <a:off x="7315200" y="2697480"/>
            <a:ext cx="22860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9EDB3B"/>
                </a:solidFill>
                <a:latin typeface="Lato"/>
                <a:ea typeface="Lato"/>
                <a:cs typeface="Lato"/>
                <a:sym typeface="Lato"/>
              </a:rPr>
              <a:t>North America</a:t>
            </a:r>
            <a:endParaRPr>
              <a:latin typeface="Lato"/>
              <a:ea typeface="Lato"/>
              <a:cs typeface="Lato"/>
              <a:sym typeface="Lato"/>
            </a:endParaRPr>
          </a:p>
        </p:txBody>
      </p:sp>
      <p:sp>
        <p:nvSpPr>
          <p:cNvPr id="143" name="Google Shape;143;p3"/>
          <p:cNvSpPr txBox="1"/>
          <p:nvPr/>
        </p:nvSpPr>
        <p:spPr>
          <a:xfrm>
            <a:off x="7315200" y="2926080"/>
            <a:ext cx="42063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8A8A82"/>
                </a:solidFill>
                <a:latin typeface="Lato"/>
                <a:ea typeface="Lato"/>
                <a:cs typeface="Lato"/>
                <a:sym typeface="Lato"/>
              </a:rPr>
              <a:t>62% SQL | 85% Pipeline</a:t>
            </a:r>
            <a:endParaRPr>
              <a:latin typeface="Lato"/>
              <a:ea typeface="Lato"/>
              <a:cs typeface="Lato"/>
              <a:sym typeface="Lato"/>
            </a:endParaRPr>
          </a:p>
        </p:txBody>
      </p:sp>
      <p:sp>
        <p:nvSpPr>
          <p:cNvPr id="144" name="Google Shape;144;p3"/>
          <p:cNvSpPr txBox="1"/>
          <p:nvPr/>
        </p:nvSpPr>
        <p:spPr>
          <a:xfrm>
            <a:off x="7315200" y="3154680"/>
            <a:ext cx="42063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43% of headcount. Fully ramped reps hit 98.6% pipeline — nearly at target. However, 10 of 35 AEs are still ramping, pulling down aggregate.</a:t>
            </a:r>
            <a:endParaRPr>
              <a:latin typeface="Lato"/>
              <a:ea typeface="Lato"/>
              <a:cs typeface="Lato"/>
              <a:sym typeface="Lato"/>
            </a:endParaRPr>
          </a:p>
        </p:txBody>
      </p:sp>
      <p:sp>
        <p:nvSpPr>
          <p:cNvPr id="145" name="Google Shape;145;p3"/>
          <p:cNvSpPr/>
          <p:nvPr/>
        </p:nvSpPr>
        <p:spPr>
          <a:xfrm>
            <a:off x="7132320" y="3840480"/>
            <a:ext cx="4572000" cy="109728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46" name="Google Shape;146;p3"/>
          <p:cNvSpPr txBox="1"/>
          <p:nvPr/>
        </p:nvSpPr>
        <p:spPr>
          <a:xfrm>
            <a:off x="7315200" y="3931920"/>
            <a:ext cx="22860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1396E4"/>
                </a:solidFill>
                <a:latin typeface="Lato"/>
                <a:ea typeface="Lato"/>
                <a:cs typeface="Lato"/>
                <a:sym typeface="Lato"/>
              </a:rPr>
              <a:t>LATAM</a:t>
            </a:r>
            <a:endParaRPr>
              <a:latin typeface="Lato"/>
              <a:ea typeface="Lato"/>
              <a:cs typeface="Lato"/>
              <a:sym typeface="Lato"/>
            </a:endParaRPr>
          </a:p>
        </p:txBody>
      </p:sp>
      <p:sp>
        <p:nvSpPr>
          <p:cNvPr id="147" name="Google Shape;147;p3"/>
          <p:cNvSpPr txBox="1"/>
          <p:nvPr/>
        </p:nvSpPr>
        <p:spPr>
          <a:xfrm>
            <a:off x="7315200" y="4160520"/>
            <a:ext cx="42063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8A8A82"/>
                </a:solidFill>
                <a:latin typeface="Lato"/>
                <a:ea typeface="Lato"/>
                <a:cs typeface="Lato"/>
                <a:sym typeface="Lato"/>
              </a:rPr>
              <a:t>48% SQL | 81% Pipeline</a:t>
            </a:r>
            <a:endParaRPr>
              <a:latin typeface="Lato"/>
              <a:ea typeface="Lato"/>
              <a:cs typeface="Lato"/>
              <a:sym typeface="Lato"/>
            </a:endParaRPr>
          </a:p>
        </p:txBody>
      </p:sp>
      <p:sp>
        <p:nvSpPr>
          <p:cNvPr id="148" name="Google Shape;148;p3"/>
          <p:cNvSpPr txBox="1"/>
          <p:nvPr/>
        </p:nvSpPr>
        <p:spPr>
          <a:xfrm>
            <a:off x="7315200" y="4389120"/>
            <a:ext cx="42063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Striking disconnect: lowest SQL attainment but strong pipeline. Avg deal size of $558K (vs. $437K EMEA) indicates fewer but larger deals.</a:t>
            </a:r>
            <a:endParaRPr>
              <a:latin typeface="Lato"/>
              <a:ea typeface="Lato"/>
              <a:cs typeface="Lato"/>
              <a:sym typeface="Lato"/>
            </a:endParaRPr>
          </a:p>
        </p:txBody>
      </p:sp>
      <p:sp>
        <p:nvSpPr>
          <p:cNvPr id="149" name="Google Shape;149;p3"/>
          <p:cNvSpPr/>
          <p:nvPr/>
        </p:nvSpPr>
        <p:spPr>
          <a:xfrm>
            <a:off x="7132320" y="5074920"/>
            <a:ext cx="4572000" cy="109728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50" name="Google Shape;150;p3"/>
          <p:cNvSpPr txBox="1"/>
          <p:nvPr/>
        </p:nvSpPr>
        <p:spPr>
          <a:xfrm>
            <a:off x="7315200" y="5166360"/>
            <a:ext cx="22860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E04F5F"/>
                </a:solidFill>
                <a:latin typeface="Lato"/>
                <a:ea typeface="Lato"/>
                <a:cs typeface="Lato"/>
                <a:sym typeface="Lato"/>
              </a:rPr>
              <a:t>APAC</a:t>
            </a:r>
            <a:endParaRPr>
              <a:latin typeface="Lato"/>
              <a:ea typeface="Lato"/>
              <a:cs typeface="Lato"/>
              <a:sym typeface="Lato"/>
            </a:endParaRPr>
          </a:p>
        </p:txBody>
      </p:sp>
      <p:sp>
        <p:nvSpPr>
          <p:cNvPr id="151" name="Google Shape;151;p3"/>
          <p:cNvSpPr txBox="1"/>
          <p:nvPr/>
        </p:nvSpPr>
        <p:spPr>
          <a:xfrm>
            <a:off x="7315200" y="5394960"/>
            <a:ext cx="42063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8A8A82"/>
                </a:solidFill>
                <a:latin typeface="Lato"/>
                <a:ea typeface="Lato"/>
                <a:cs typeface="Lato"/>
                <a:sym typeface="Lato"/>
              </a:rPr>
              <a:t>43% SQL | 56% Pipeline</a:t>
            </a:r>
            <a:endParaRPr>
              <a:latin typeface="Lato"/>
              <a:ea typeface="Lato"/>
              <a:cs typeface="Lato"/>
              <a:sym typeface="Lato"/>
            </a:endParaRPr>
          </a:p>
        </p:txBody>
      </p:sp>
      <p:sp>
        <p:nvSpPr>
          <p:cNvPr id="152" name="Google Shape;152;p3"/>
          <p:cNvSpPr txBox="1"/>
          <p:nvPr/>
        </p:nvSpPr>
        <p:spPr>
          <a:xfrm>
            <a:off x="7315200" y="5623560"/>
            <a:ext cx="42063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Systemic underperformance. Even fully ramped cohort at only 71.3% pipeline. Two reps with 6+ months at near-zero output.</a:t>
            </a:r>
            <a:endParaRPr>
              <a:latin typeface="Lato"/>
              <a:ea typeface="Lato"/>
              <a:cs typeface="Lato"/>
              <a:sym typeface="Lato"/>
            </a:endParaRPr>
          </a:p>
        </p:txBody>
      </p:sp>
      <p:sp>
        <p:nvSpPr>
          <p:cNvPr id="153" name="Google Shape;153;p3"/>
          <p:cNvSpPr txBox="1"/>
          <p:nvPr/>
        </p:nvSpPr>
        <p:spPr>
          <a:xfrm>
            <a:off x="11155680" y="6446520"/>
            <a:ext cx="7314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900" u="none" cap="none" strike="noStrike">
                <a:solidFill>
                  <a:srgbClr val="8A8A82"/>
                </a:solidFill>
                <a:latin typeface="Lato"/>
                <a:ea typeface="Lato"/>
                <a:cs typeface="Lato"/>
                <a:sym typeface="Lato"/>
              </a:rPr>
              <a:t>3/7</a:t>
            </a:r>
            <a:endParaRPr>
              <a:latin typeface="Lato"/>
              <a:ea typeface="Lato"/>
              <a:cs typeface="Lato"/>
              <a:sym typeface="Lato"/>
            </a:endParaRPr>
          </a:p>
        </p:txBody>
      </p:sp>
      <p:sp>
        <p:nvSpPr>
          <p:cNvPr id="154" name="Google Shape;154;p3"/>
          <p:cNvSpPr txBox="1"/>
          <p:nvPr/>
        </p:nvSpPr>
        <p:spPr>
          <a:xfrm>
            <a:off x="731520" y="1443150"/>
            <a:ext cx="10058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300" u="none" cap="none" strike="noStrike">
                <a:solidFill>
                  <a:srgbClr val="8A8A82"/>
                </a:solidFill>
                <a:latin typeface="Lato"/>
                <a:ea typeface="Lato"/>
                <a:cs typeface="Lato"/>
                <a:sym typeface="Lato"/>
              </a:rPr>
              <a:t>SQL and Pipeline attainment by territory — all AEs included</a:t>
            </a:r>
            <a:endParaRPr>
              <a:latin typeface="Lato"/>
              <a:ea typeface="Lato"/>
              <a:cs typeface="Lato"/>
              <a:sym typeface="Lato"/>
            </a:endParaRPr>
          </a:p>
        </p:txBody>
      </p:sp>
      <p:graphicFrame>
        <p:nvGraphicFramePr>
          <p:cNvPr id="155" name="Google Shape;155;p3"/>
          <p:cNvGraphicFramePr/>
          <p:nvPr/>
        </p:nvGraphicFramePr>
        <p:xfrm>
          <a:off x="604063" y="4656825"/>
          <a:ext cx="3000000" cy="3000000"/>
        </p:xfrm>
        <a:graphic>
          <a:graphicData uri="http://schemas.openxmlformats.org/drawingml/2006/table">
            <a:tbl>
              <a:tblPr>
                <a:noFill/>
                <a:tableStyleId>{5C3A93DC-2D8A-4D3F-B172-B62327CD2B9D}</a:tableStyleId>
              </a:tblPr>
              <a:tblGrid>
                <a:gridCol w="1232375"/>
                <a:gridCol w="1136775"/>
                <a:gridCol w="1316550"/>
                <a:gridCol w="1148300"/>
                <a:gridCol w="1065900"/>
              </a:tblGrid>
              <a:tr h="14975">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Category</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EMEA</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North America</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LATAM</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APAC</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r>
              <a:tr h="14975">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AEs</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13</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35</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17</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16</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r>
              <a:tr h="14975">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SQL Att</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78%</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62%</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48%</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42%</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r>
              <a:tr h="14975">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Pipeline Att</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89%</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85%</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81%</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56%</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r>
              <a:tr h="14975">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Avg Tenure</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8.5 mo</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8.3 mo</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9.5 mo</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c>
                  <a:txBody>
                    <a:bodyPr/>
                    <a:lstStyle/>
                    <a:p>
                      <a:pPr indent="0" lvl="0" marL="0" marR="0" rtl="0" algn="ctr">
                        <a:lnSpc>
                          <a:spcPct val="100000"/>
                        </a:lnSpc>
                        <a:spcBef>
                          <a:spcPts val="0"/>
                        </a:spcBef>
                        <a:spcAft>
                          <a:spcPts val="100"/>
                        </a:spcAft>
                        <a:buNone/>
                      </a:pPr>
                      <a:r>
                        <a:rPr lang="en-US" sz="1200">
                          <a:solidFill>
                            <a:srgbClr val="24292E"/>
                          </a:solidFill>
                          <a:highlight>
                            <a:srgbClr val="FFFFFF"/>
                          </a:highlight>
                          <a:latin typeface="Lato"/>
                          <a:ea typeface="Lato"/>
                          <a:cs typeface="Lato"/>
                          <a:sym typeface="Lato"/>
                        </a:rPr>
                        <a:t>8.4 mo</a:t>
                      </a:r>
                      <a:endParaRPr sz="1200">
                        <a:solidFill>
                          <a:srgbClr val="24292E"/>
                        </a:solidFill>
                        <a:highlight>
                          <a:srgbClr val="FFFFFF"/>
                        </a:highlight>
                        <a:latin typeface="Lato"/>
                        <a:ea typeface="Lato"/>
                        <a:cs typeface="Lato"/>
                        <a:sym typeface="Lato"/>
                      </a:endParaRPr>
                    </a:p>
                  </a:txBody>
                  <a:tcPr marT="91425" marB="91425" marR="91425" marL="91425">
                    <a:lnL cap="flat" cmpd="sng" w="9525">
                      <a:solidFill>
                        <a:srgbClr val="E0E0D8"/>
                      </a:solidFill>
                      <a:prstDash val="solid"/>
                      <a:round/>
                      <a:headEnd len="sm" w="sm" type="none"/>
                      <a:tailEnd len="sm" w="sm" type="none"/>
                    </a:lnL>
                    <a:lnR cap="flat" cmpd="sng" w="9525">
                      <a:solidFill>
                        <a:srgbClr val="E0E0D8"/>
                      </a:solidFill>
                      <a:prstDash val="solid"/>
                      <a:round/>
                      <a:headEnd len="sm" w="sm" type="none"/>
                      <a:tailEnd len="sm" w="sm" type="none"/>
                    </a:lnR>
                    <a:lnT cap="flat" cmpd="sng" w="9525">
                      <a:solidFill>
                        <a:srgbClr val="E0E0D8"/>
                      </a:solidFill>
                      <a:prstDash val="solid"/>
                      <a:round/>
                      <a:headEnd len="sm" w="sm" type="none"/>
                      <a:tailEnd len="sm" w="sm" type="none"/>
                    </a:lnT>
                    <a:lnB cap="flat" cmpd="sng" w="9525">
                      <a:solidFill>
                        <a:srgbClr val="E0E0D8"/>
                      </a:solidFill>
                      <a:prstDash val="solid"/>
                      <a:round/>
                      <a:headEnd len="sm" w="sm" type="none"/>
                      <a:tailEnd len="sm" w="sm" type="none"/>
                    </a:lnB>
                    <a:solidFill>
                      <a:srgbClr val="DFE2E5">
                        <a:alpha val="0"/>
                      </a:srgbClr>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EB"/>
        </a:solidFill>
      </p:bgPr>
    </p:bg>
    <p:spTree>
      <p:nvGrpSpPr>
        <p:cNvPr id="159" name="Shape 159"/>
        <p:cNvGrpSpPr/>
        <p:nvPr/>
      </p:nvGrpSpPr>
      <p:grpSpPr>
        <a:xfrm>
          <a:off x="0" y="0"/>
          <a:ext cx="0" cy="0"/>
          <a:chOff x="0" y="0"/>
          <a:chExt cx="0" cy="0"/>
        </a:xfrm>
      </p:grpSpPr>
      <p:sp>
        <p:nvSpPr>
          <p:cNvPr id="160" name="Google Shape;160;p4"/>
          <p:cNvSpPr txBox="1"/>
          <p:nvPr/>
        </p:nvSpPr>
        <p:spPr>
          <a:xfrm>
            <a:off x="731526" y="365750"/>
            <a:ext cx="11155500" cy="892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0A0A0A"/>
                </a:solidFill>
                <a:latin typeface="Lato"/>
                <a:ea typeface="Lato"/>
                <a:cs typeface="Lato"/>
                <a:sym typeface="Lato"/>
              </a:rPr>
              <a:t>21% of the team is still ramping — fully ramped AEs deliver 2.2x better pipeline results</a:t>
            </a:r>
            <a:endParaRPr>
              <a:latin typeface="Lato"/>
              <a:ea typeface="Lato"/>
              <a:cs typeface="Lato"/>
              <a:sym typeface="Lato"/>
            </a:endParaRPr>
          </a:p>
        </p:txBody>
      </p:sp>
      <p:sp>
        <p:nvSpPr>
          <p:cNvPr id="161" name="Google Shape;161;p4"/>
          <p:cNvSpPr txBox="1"/>
          <p:nvPr/>
        </p:nvSpPr>
        <p:spPr>
          <a:xfrm>
            <a:off x="731520" y="868680"/>
            <a:ext cx="10058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300" u="none" cap="none" strike="noStrike">
                <a:solidFill>
                  <a:srgbClr val="8A8A82"/>
                </a:solidFill>
                <a:latin typeface="Lato"/>
                <a:ea typeface="Lato"/>
                <a:cs typeface="Lato"/>
                <a:sym typeface="Lato"/>
              </a:rPr>
              <a:t>Performance by ramp status and team composition across territories</a:t>
            </a:r>
            <a:endParaRPr>
              <a:latin typeface="Lato"/>
              <a:ea typeface="Lato"/>
              <a:cs typeface="Lato"/>
              <a:sym typeface="Lato"/>
            </a:endParaRPr>
          </a:p>
        </p:txBody>
      </p:sp>
      <p:sp>
        <p:nvSpPr>
          <p:cNvPr id="162" name="Google Shape;162;p4"/>
          <p:cNvSpPr/>
          <p:nvPr/>
        </p:nvSpPr>
        <p:spPr>
          <a:xfrm>
            <a:off x="457200" y="1371600"/>
            <a:ext cx="5669280" cy="3840480"/>
          </a:xfrm>
          <a:prstGeom prst="roundRect">
            <a:avLst>
              <a:gd fmla="val 6910"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02_ramp.png" id="163" name="Google Shape;163;p4"/>
          <p:cNvPicPr preferRelativeResize="0"/>
          <p:nvPr/>
        </p:nvPicPr>
        <p:blipFill rotWithShape="1">
          <a:blip r:embed="rId3">
            <a:alphaModFix/>
          </a:blip>
          <a:srcRect b="0" l="0" r="0" t="0"/>
          <a:stretch/>
        </p:blipFill>
        <p:spPr>
          <a:xfrm>
            <a:off x="548640" y="1463040"/>
            <a:ext cx="5486400" cy="3478856"/>
          </a:xfrm>
          <a:prstGeom prst="rect">
            <a:avLst/>
          </a:prstGeom>
          <a:noFill/>
          <a:ln>
            <a:noFill/>
          </a:ln>
        </p:spPr>
      </p:pic>
      <p:sp>
        <p:nvSpPr>
          <p:cNvPr id="164" name="Google Shape;164;p4"/>
          <p:cNvSpPr/>
          <p:nvPr/>
        </p:nvSpPr>
        <p:spPr>
          <a:xfrm>
            <a:off x="6400800" y="1371600"/>
            <a:ext cx="5486400" cy="3840480"/>
          </a:xfrm>
          <a:prstGeom prst="roundRect">
            <a:avLst>
              <a:gd fmla="val 7082"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06_composition.png" id="165" name="Google Shape;165;p4"/>
          <p:cNvPicPr preferRelativeResize="0"/>
          <p:nvPr/>
        </p:nvPicPr>
        <p:blipFill rotWithShape="1">
          <a:blip r:embed="rId4">
            <a:alphaModFix/>
          </a:blip>
          <a:srcRect b="0" l="0" r="0" t="0"/>
          <a:stretch/>
        </p:blipFill>
        <p:spPr>
          <a:xfrm>
            <a:off x="6492240" y="1463040"/>
            <a:ext cx="5303520" cy="3138380"/>
          </a:xfrm>
          <a:prstGeom prst="rect">
            <a:avLst/>
          </a:prstGeom>
          <a:noFill/>
          <a:ln>
            <a:noFill/>
          </a:ln>
        </p:spPr>
      </p:pic>
      <p:sp>
        <p:nvSpPr>
          <p:cNvPr id="166" name="Google Shape;166;p4"/>
          <p:cNvSpPr/>
          <p:nvPr/>
        </p:nvSpPr>
        <p:spPr>
          <a:xfrm>
            <a:off x="457200" y="5440680"/>
            <a:ext cx="3566160" cy="118872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67" name="Google Shape;167;p4"/>
          <p:cNvSpPr txBox="1"/>
          <p:nvPr/>
        </p:nvSpPr>
        <p:spPr>
          <a:xfrm>
            <a:off x="594360" y="5532120"/>
            <a:ext cx="32919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1396E4"/>
                </a:solidFill>
                <a:latin typeface="Lato"/>
                <a:ea typeface="Lato"/>
                <a:cs typeface="Lato"/>
                <a:sym typeface="Lato"/>
              </a:rPr>
              <a:t>Ramp Burden</a:t>
            </a:r>
            <a:endParaRPr>
              <a:latin typeface="Lato"/>
              <a:ea typeface="Lato"/>
              <a:cs typeface="Lato"/>
              <a:sym typeface="Lato"/>
            </a:endParaRPr>
          </a:p>
        </p:txBody>
      </p:sp>
      <p:sp>
        <p:nvSpPr>
          <p:cNvPr id="168" name="Google Shape;168;p4"/>
          <p:cNvSpPr txBox="1"/>
          <p:nvPr/>
        </p:nvSpPr>
        <p:spPr>
          <a:xfrm>
            <a:off x="594360" y="5806440"/>
            <a:ext cx="32919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North America carries 10 of 17 ramping reps — only 46% fully ramped vs. 71% in LATAM. This dilutes NA aggregate metrics significantly.</a:t>
            </a:r>
            <a:endParaRPr>
              <a:latin typeface="Lato"/>
              <a:ea typeface="Lato"/>
              <a:cs typeface="Lato"/>
              <a:sym typeface="Lato"/>
            </a:endParaRPr>
          </a:p>
        </p:txBody>
      </p:sp>
      <p:sp>
        <p:nvSpPr>
          <p:cNvPr id="169" name="Google Shape;169;p4"/>
          <p:cNvSpPr/>
          <p:nvPr/>
        </p:nvSpPr>
        <p:spPr>
          <a:xfrm>
            <a:off x="4251960" y="5440680"/>
            <a:ext cx="3566160" cy="118872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70" name="Google Shape;170;p4"/>
          <p:cNvSpPr txBox="1"/>
          <p:nvPr/>
        </p:nvSpPr>
        <p:spPr>
          <a:xfrm>
            <a:off x="4389120" y="5532120"/>
            <a:ext cx="32919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6BBF3B"/>
                </a:solidFill>
                <a:latin typeface="Lato"/>
                <a:ea typeface="Lato"/>
                <a:cs typeface="Lato"/>
                <a:sym typeface="Lato"/>
              </a:rPr>
              <a:t>Pipeline Multiplier</a:t>
            </a:r>
            <a:endParaRPr>
              <a:latin typeface="Lato"/>
              <a:ea typeface="Lato"/>
              <a:cs typeface="Lato"/>
              <a:sym typeface="Lato"/>
            </a:endParaRPr>
          </a:p>
        </p:txBody>
      </p:sp>
      <p:sp>
        <p:nvSpPr>
          <p:cNvPr id="171" name="Google Shape;171;p4"/>
          <p:cNvSpPr txBox="1"/>
          <p:nvPr/>
        </p:nvSpPr>
        <p:spPr>
          <a:xfrm>
            <a:off x="4389120" y="5806440"/>
            <a:ext cx="32919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Fully ramped AEs generate 89.9% pipeline attainment vs. 41.2% for ramping reps — a 2.2x improvement. Retention and ramp acceleration are high-leverage.</a:t>
            </a:r>
            <a:endParaRPr>
              <a:latin typeface="Lato"/>
              <a:ea typeface="Lato"/>
              <a:cs typeface="Lato"/>
              <a:sym typeface="Lato"/>
            </a:endParaRPr>
          </a:p>
        </p:txBody>
      </p:sp>
      <p:sp>
        <p:nvSpPr>
          <p:cNvPr id="172" name="Google Shape;172;p4"/>
          <p:cNvSpPr/>
          <p:nvPr/>
        </p:nvSpPr>
        <p:spPr>
          <a:xfrm>
            <a:off x="8046720" y="5440680"/>
            <a:ext cx="3566160" cy="118872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73" name="Google Shape;173;p4"/>
          <p:cNvSpPr txBox="1"/>
          <p:nvPr/>
        </p:nvSpPr>
        <p:spPr>
          <a:xfrm>
            <a:off x="8183880" y="5532120"/>
            <a:ext cx="32919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5A5A5A"/>
                </a:solidFill>
                <a:latin typeface="Lato"/>
                <a:ea typeface="Lato"/>
                <a:cs typeface="Lato"/>
                <a:sym typeface="Lato"/>
              </a:rPr>
              <a:t>Tenure Correlation</a:t>
            </a:r>
            <a:endParaRPr>
              <a:latin typeface="Lato"/>
              <a:ea typeface="Lato"/>
              <a:cs typeface="Lato"/>
              <a:sym typeface="Lato"/>
            </a:endParaRPr>
          </a:p>
        </p:txBody>
      </p:sp>
      <p:sp>
        <p:nvSpPr>
          <p:cNvPr id="174" name="Google Shape;174;p4"/>
          <p:cNvSpPr txBox="1"/>
          <p:nvPr/>
        </p:nvSpPr>
        <p:spPr>
          <a:xfrm>
            <a:off x="8183880" y="5806440"/>
            <a:ext cx="32919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Moderate positive correlation (r = 0.37) between tenure and pipeline performance. Tenure helps, but is not the dominant driver — high and low performers exist across bands.</a:t>
            </a:r>
            <a:endParaRPr>
              <a:latin typeface="Lato"/>
              <a:ea typeface="Lato"/>
              <a:cs typeface="Lato"/>
              <a:sym typeface="Lato"/>
            </a:endParaRPr>
          </a:p>
        </p:txBody>
      </p:sp>
      <p:sp>
        <p:nvSpPr>
          <p:cNvPr id="175" name="Google Shape;175;p4"/>
          <p:cNvSpPr txBox="1"/>
          <p:nvPr/>
        </p:nvSpPr>
        <p:spPr>
          <a:xfrm>
            <a:off x="11155680" y="6446520"/>
            <a:ext cx="7314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900" u="none" cap="none" strike="noStrike">
                <a:solidFill>
                  <a:srgbClr val="8A8A82"/>
                </a:solidFill>
                <a:latin typeface="Lato"/>
                <a:ea typeface="Lato"/>
                <a:cs typeface="Lato"/>
                <a:sym typeface="Lato"/>
              </a:rPr>
              <a:t>4/7</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EB"/>
        </a:solidFill>
      </p:bgPr>
    </p:bg>
    <p:spTree>
      <p:nvGrpSpPr>
        <p:cNvPr id="179" name="Shape 179"/>
        <p:cNvGrpSpPr/>
        <p:nvPr/>
      </p:nvGrpSpPr>
      <p:grpSpPr>
        <a:xfrm>
          <a:off x="0" y="0"/>
          <a:ext cx="0" cy="0"/>
          <a:chOff x="0" y="0"/>
          <a:chExt cx="0" cy="0"/>
        </a:xfrm>
      </p:grpSpPr>
      <p:sp>
        <p:nvSpPr>
          <p:cNvPr id="180" name="Google Shape;180;p5"/>
          <p:cNvSpPr txBox="1"/>
          <p:nvPr/>
        </p:nvSpPr>
        <p:spPr>
          <a:xfrm>
            <a:off x="731520" y="365760"/>
            <a:ext cx="10058400" cy="892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0A0A0A"/>
                </a:solidFill>
                <a:latin typeface="Lato"/>
                <a:ea typeface="Lato"/>
                <a:cs typeface="Lato"/>
                <a:sym typeface="Lato"/>
              </a:rPr>
              <a:t>39% of fully ramped AEs are at or above target, but 15% sit below 50% — requiring intervention</a:t>
            </a:r>
            <a:endParaRPr>
              <a:latin typeface="Lato"/>
              <a:ea typeface="Lato"/>
              <a:cs typeface="Lato"/>
              <a:sym typeface="Lato"/>
            </a:endParaRPr>
          </a:p>
        </p:txBody>
      </p:sp>
      <p:sp>
        <p:nvSpPr>
          <p:cNvPr id="181" name="Google Shape;181;p5"/>
          <p:cNvSpPr txBox="1"/>
          <p:nvPr/>
        </p:nvSpPr>
        <p:spPr>
          <a:xfrm>
            <a:off x="731520" y="868680"/>
            <a:ext cx="10058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300" u="none" cap="none" strike="noStrike">
                <a:solidFill>
                  <a:srgbClr val="8A8A82"/>
                </a:solidFill>
                <a:latin typeface="Lato"/>
                <a:ea typeface="Lato"/>
                <a:cs typeface="Lato"/>
                <a:sym typeface="Lato"/>
              </a:rPr>
              <a:t>Individual performance distribution and SQL vs. Pipeline quadrant analysis (fully ramped, n=46)</a:t>
            </a:r>
            <a:endParaRPr>
              <a:latin typeface="Lato"/>
              <a:ea typeface="Lato"/>
              <a:cs typeface="Lato"/>
              <a:sym typeface="Lato"/>
            </a:endParaRPr>
          </a:p>
        </p:txBody>
      </p:sp>
      <p:sp>
        <p:nvSpPr>
          <p:cNvPr id="182" name="Google Shape;182;p5"/>
          <p:cNvSpPr/>
          <p:nvPr/>
        </p:nvSpPr>
        <p:spPr>
          <a:xfrm>
            <a:off x="457200" y="1371600"/>
            <a:ext cx="5669280" cy="429768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05_quadrant.png" id="183" name="Google Shape;183;p5"/>
          <p:cNvPicPr preferRelativeResize="0"/>
          <p:nvPr/>
        </p:nvPicPr>
        <p:blipFill rotWithShape="1">
          <a:blip r:embed="rId3">
            <a:alphaModFix/>
          </a:blip>
          <a:srcRect b="0" l="0" r="0" t="0"/>
          <a:stretch/>
        </p:blipFill>
        <p:spPr>
          <a:xfrm>
            <a:off x="548640" y="1463040"/>
            <a:ext cx="5486400" cy="4289851"/>
          </a:xfrm>
          <a:prstGeom prst="rect">
            <a:avLst/>
          </a:prstGeom>
          <a:noFill/>
          <a:ln>
            <a:noFill/>
          </a:ln>
        </p:spPr>
      </p:pic>
      <p:sp>
        <p:nvSpPr>
          <p:cNvPr id="184" name="Google Shape;184;p5"/>
          <p:cNvSpPr/>
          <p:nvPr/>
        </p:nvSpPr>
        <p:spPr>
          <a:xfrm>
            <a:off x="6400800" y="1371600"/>
            <a:ext cx="5486400" cy="429768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04_distribution.png" id="185" name="Google Shape;185;p5"/>
          <p:cNvPicPr preferRelativeResize="0"/>
          <p:nvPr/>
        </p:nvPicPr>
        <p:blipFill rotWithShape="1">
          <a:blip r:embed="rId4">
            <a:alphaModFix/>
          </a:blip>
          <a:srcRect b="0" l="0" r="0" t="0"/>
          <a:stretch/>
        </p:blipFill>
        <p:spPr>
          <a:xfrm>
            <a:off x="6492240" y="1508760"/>
            <a:ext cx="5303520" cy="3134093"/>
          </a:xfrm>
          <a:prstGeom prst="rect">
            <a:avLst/>
          </a:prstGeom>
          <a:noFill/>
          <a:ln>
            <a:noFill/>
          </a:ln>
        </p:spPr>
      </p:pic>
      <p:sp>
        <p:nvSpPr>
          <p:cNvPr id="186" name="Google Shape;186;p5"/>
          <p:cNvSpPr/>
          <p:nvPr/>
        </p:nvSpPr>
        <p:spPr>
          <a:xfrm>
            <a:off x="457200" y="5897880"/>
            <a:ext cx="5303520" cy="77724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87" name="Google Shape;187;p5"/>
          <p:cNvSpPr txBox="1"/>
          <p:nvPr/>
        </p:nvSpPr>
        <p:spPr>
          <a:xfrm>
            <a:off x="640080" y="5943600"/>
            <a:ext cx="4937700" cy="453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6BBF3B"/>
                </a:solidFill>
                <a:latin typeface="Lato"/>
                <a:ea typeface="Lato"/>
                <a:cs typeface="Lato"/>
                <a:sym typeface="Lato"/>
              </a:rPr>
              <a:t>Top 3 Performers</a:t>
            </a:r>
            <a:endParaRPr>
              <a:latin typeface="Lato"/>
              <a:ea typeface="Lato"/>
              <a:cs typeface="Lato"/>
              <a:sym typeface="Lato"/>
            </a:endParaRPr>
          </a:p>
          <a:p>
            <a:pPr indent="0" lvl="0" marL="0" marR="0" rtl="0" algn="l">
              <a:spcBef>
                <a:spcPts val="300"/>
              </a:spcBef>
              <a:spcAft>
                <a:spcPts val="0"/>
              </a:spcAft>
              <a:buNone/>
            </a:pPr>
            <a:r>
              <a:rPr i="0" lang="en-US" sz="1000" u="none" cap="none" strike="noStrike">
                <a:solidFill>
                  <a:srgbClr val="5A5A5A"/>
                </a:solidFill>
                <a:latin typeface="Lato"/>
                <a:ea typeface="Lato"/>
                <a:cs typeface="Lato"/>
                <a:sym typeface="Lato"/>
              </a:rPr>
              <a:t>123496 (LATAM, 196%)   |   123512 (NA, 149%)   |   123498 (LATAM, 141%)</a:t>
            </a:r>
            <a:endParaRPr>
              <a:latin typeface="Lato"/>
              <a:ea typeface="Lato"/>
              <a:cs typeface="Lato"/>
              <a:sym typeface="Lato"/>
            </a:endParaRPr>
          </a:p>
        </p:txBody>
      </p:sp>
      <p:sp>
        <p:nvSpPr>
          <p:cNvPr id="188" name="Google Shape;188;p5"/>
          <p:cNvSpPr/>
          <p:nvPr/>
        </p:nvSpPr>
        <p:spPr>
          <a:xfrm>
            <a:off x="6035040" y="5897880"/>
            <a:ext cx="5852160" cy="77724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89" name="Google Shape;189;p5"/>
          <p:cNvSpPr txBox="1"/>
          <p:nvPr/>
        </p:nvSpPr>
        <p:spPr>
          <a:xfrm>
            <a:off x="6217920" y="5943600"/>
            <a:ext cx="5486400" cy="453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E04F5F"/>
                </a:solidFill>
                <a:latin typeface="Lato"/>
                <a:ea typeface="Lato"/>
                <a:cs typeface="Lato"/>
                <a:sym typeface="Lato"/>
              </a:rPr>
              <a:t>Bottom 3 Performers (Fully Ramped)</a:t>
            </a:r>
            <a:endParaRPr>
              <a:latin typeface="Lato"/>
              <a:ea typeface="Lato"/>
              <a:cs typeface="Lato"/>
              <a:sym typeface="Lato"/>
            </a:endParaRPr>
          </a:p>
          <a:p>
            <a:pPr indent="0" lvl="0" marL="0" marR="0" rtl="0" algn="l">
              <a:spcBef>
                <a:spcPts val="300"/>
              </a:spcBef>
              <a:spcAft>
                <a:spcPts val="0"/>
              </a:spcAft>
              <a:buNone/>
            </a:pPr>
            <a:r>
              <a:rPr i="0" lang="en-US" sz="1000" u="none" cap="none" strike="noStrike">
                <a:solidFill>
                  <a:srgbClr val="5A5A5A"/>
                </a:solidFill>
                <a:latin typeface="Lato"/>
                <a:ea typeface="Lato"/>
                <a:cs typeface="Lato"/>
                <a:sym typeface="Lato"/>
              </a:rPr>
              <a:t>123474 (APAC, 5%, 7mo)   |   123465 (EMEA, 19%, 7mo)   |   123497 (LATAM, 25%, 8mo)</a:t>
            </a:r>
            <a:endParaRPr>
              <a:latin typeface="Lato"/>
              <a:ea typeface="Lato"/>
              <a:cs typeface="Lato"/>
              <a:sym typeface="Lato"/>
            </a:endParaRPr>
          </a:p>
        </p:txBody>
      </p:sp>
      <p:sp>
        <p:nvSpPr>
          <p:cNvPr id="190" name="Google Shape;190;p5"/>
          <p:cNvSpPr txBox="1"/>
          <p:nvPr/>
        </p:nvSpPr>
        <p:spPr>
          <a:xfrm>
            <a:off x="11155680" y="6446520"/>
            <a:ext cx="7314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900" u="none" cap="none" strike="noStrike">
                <a:solidFill>
                  <a:srgbClr val="8A8A82"/>
                </a:solidFill>
                <a:latin typeface="Lato"/>
                <a:ea typeface="Lato"/>
                <a:cs typeface="Lato"/>
                <a:sym typeface="Lato"/>
              </a:rPr>
              <a:t>5/7</a:t>
            </a:r>
            <a:endParaRPr>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EB"/>
        </a:solidFill>
      </p:bgPr>
    </p:bg>
    <p:spTree>
      <p:nvGrpSpPr>
        <p:cNvPr id="194" name="Shape 194"/>
        <p:cNvGrpSpPr/>
        <p:nvPr/>
      </p:nvGrpSpPr>
      <p:grpSpPr>
        <a:xfrm>
          <a:off x="0" y="0"/>
          <a:ext cx="0" cy="0"/>
          <a:chOff x="0" y="0"/>
          <a:chExt cx="0" cy="0"/>
        </a:xfrm>
      </p:grpSpPr>
      <p:sp>
        <p:nvSpPr>
          <p:cNvPr id="195" name="Google Shape;195;p6"/>
          <p:cNvSpPr txBox="1"/>
          <p:nvPr/>
        </p:nvSpPr>
        <p:spPr>
          <a:xfrm>
            <a:off x="731520" y="365760"/>
            <a:ext cx="10058400" cy="892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0A0A0A"/>
                </a:solidFill>
                <a:latin typeface="Lato"/>
                <a:ea typeface="Lato"/>
                <a:cs typeface="Lato"/>
                <a:sym typeface="Lato"/>
              </a:rPr>
              <a:t>Five hypotheses to validate — each requires specific data to confirm or rule out</a:t>
            </a:r>
            <a:endParaRPr>
              <a:latin typeface="Lato"/>
              <a:ea typeface="Lato"/>
              <a:cs typeface="Lato"/>
              <a:sym typeface="Lato"/>
            </a:endParaRPr>
          </a:p>
        </p:txBody>
      </p:sp>
      <p:sp>
        <p:nvSpPr>
          <p:cNvPr id="196" name="Google Shape;196;p6"/>
          <p:cNvSpPr txBox="1"/>
          <p:nvPr/>
        </p:nvSpPr>
        <p:spPr>
          <a:xfrm>
            <a:off x="731520" y="868680"/>
            <a:ext cx="10058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300" u="none" cap="none" strike="noStrike">
                <a:solidFill>
                  <a:srgbClr val="8A8A82"/>
                </a:solidFill>
                <a:latin typeface="Lato"/>
                <a:ea typeface="Lato"/>
                <a:cs typeface="Lato"/>
                <a:sym typeface="Lato"/>
              </a:rPr>
              <a:t>Structured investigation plan to move from observation to action</a:t>
            </a:r>
            <a:endParaRPr>
              <a:latin typeface="Lato"/>
              <a:ea typeface="Lato"/>
              <a:cs typeface="Lato"/>
              <a:sym typeface="Lato"/>
            </a:endParaRPr>
          </a:p>
        </p:txBody>
      </p:sp>
      <p:sp>
        <p:nvSpPr>
          <p:cNvPr id="197" name="Google Shape;197;p6"/>
          <p:cNvSpPr/>
          <p:nvPr/>
        </p:nvSpPr>
        <p:spPr>
          <a:xfrm>
            <a:off x="457200" y="1371600"/>
            <a:ext cx="11247120" cy="91440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98" name="Google Shape;198;p6"/>
          <p:cNvSpPr/>
          <p:nvPr/>
        </p:nvSpPr>
        <p:spPr>
          <a:xfrm>
            <a:off x="685800" y="1572768"/>
            <a:ext cx="457200" cy="457200"/>
          </a:xfrm>
          <a:prstGeom prst="ellipse">
            <a:avLst/>
          </a:prstGeom>
          <a:solidFill>
            <a:srgbClr val="BEF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199" name="Google Shape;199;p6"/>
          <p:cNvSpPr txBox="1"/>
          <p:nvPr/>
        </p:nvSpPr>
        <p:spPr>
          <a:xfrm>
            <a:off x="685800" y="1618488"/>
            <a:ext cx="4572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0A0A0A"/>
                </a:solidFill>
                <a:latin typeface="Lato"/>
                <a:ea typeface="Lato"/>
                <a:cs typeface="Lato"/>
                <a:sym typeface="Lato"/>
              </a:rPr>
              <a:t>1</a:t>
            </a:r>
            <a:endParaRPr>
              <a:latin typeface="Lato"/>
              <a:ea typeface="Lato"/>
              <a:cs typeface="Lato"/>
              <a:sym typeface="Lato"/>
            </a:endParaRPr>
          </a:p>
        </p:txBody>
      </p:sp>
      <p:sp>
        <p:nvSpPr>
          <p:cNvPr id="200" name="Google Shape;200;p6"/>
          <p:cNvSpPr txBox="1"/>
          <p:nvPr/>
        </p:nvSpPr>
        <p:spPr>
          <a:xfrm>
            <a:off x="1371600" y="1444752"/>
            <a:ext cx="4114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A0A0A"/>
                </a:solidFill>
                <a:latin typeface="Lato"/>
                <a:ea typeface="Lato"/>
                <a:cs typeface="Lato"/>
                <a:sym typeface="Lato"/>
              </a:rPr>
              <a:t>SQL targets are miscalibrated</a:t>
            </a:r>
            <a:endParaRPr>
              <a:latin typeface="Lato"/>
              <a:ea typeface="Lato"/>
              <a:cs typeface="Lato"/>
              <a:sym typeface="Lato"/>
            </a:endParaRPr>
          </a:p>
        </p:txBody>
      </p:sp>
      <p:sp>
        <p:nvSpPr>
          <p:cNvPr id="201" name="Google Shape;201;p6"/>
          <p:cNvSpPr txBox="1"/>
          <p:nvPr/>
        </p:nvSpPr>
        <p:spPr>
          <a:xfrm>
            <a:off x="1371600" y="1783080"/>
            <a:ext cx="41148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57.7% SQL attainment while pipeline reaches 78.7% — gap persists even among fully ramped reps</a:t>
            </a:r>
            <a:endParaRPr>
              <a:latin typeface="Lato"/>
              <a:ea typeface="Lato"/>
              <a:cs typeface="Lato"/>
              <a:sym typeface="Lato"/>
            </a:endParaRPr>
          </a:p>
        </p:txBody>
      </p:sp>
      <p:sp>
        <p:nvSpPr>
          <p:cNvPr id="202" name="Google Shape;202;p6"/>
          <p:cNvSpPr txBox="1"/>
          <p:nvPr/>
        </p:nvSpPr>
        <p:spPr>
          <a:xfrm>
            <a:off x="5943600" y="1444752"/>
            <a:ext cx="13716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6BBF3B"/>
                </a:solidFill>
                <a:latin typeface="Lato"/>
                <a:ea typeface="Lato"/>
                <a:cs typeface="Lato"/>
                <a:sym typeface="Lato"/>
              </a:rPr>
              <a:t>Data needed:</a:t>
            </a:r>
            <a:endParaRPr>
              <a:latin typeface="Lato"/>
              <a:ea typeface="Lato"/>
              <a:cs typeface="Lato"/>
              <a:sym typeface="Lato"/>
            </a:endParaRPr>
          </a:p>
        </p:txBody>
      </p:sp>
      <p:sp>
        <p:nvSpPr>
          <p:cNvPr id="203" name="Google Shape;203;p6"/>
          <p:cNvSpPr txBox="1"/>
          <p:nvPr/>
        </p:nvSpPr>
        <p:spPr>
          <a:xfrm>
            <a:off x="5943600" y="1719072"/>
            <a:ext cx="54864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Historical SQL trends, market sizing, ICP penetration</a:t>
            </a:r>
            <a:endParaRPr>
              <a:latin typeface="Lato"/>
              <a:ea typeface="Lato"/>
              <a:cs typeface="Lato"/>
              <a:sym typeface="Lato"/>
            </a:endParaRPr>
          </a:p>
        </p:txBody>
      </p:sp>
      <p:sp>
        <p:nvSpPr>
          <p:cNvPr id="204" name="Google Shape;204;p6"/>
          <p:cNvSpPr/>
          <p:nvPr/>
        </p:nvSpPr>
        <p:spPr>
          <a:xfrm>
            <a:off x="457200" y="2423160"/>
            <a:ext cx="11247120" cy="91440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205" name="Google Shape;205;p6"/>
          <p:cNvSpPr/>
          <p:nvPr/>
        </p:nvSpPr>
        <p:spPr>
          <a:xfrm>
            <a:off x="685800" y="2624328"/>
            <a:ext cx="457200" cy="457200"/>
          </a:xfrm>
          <a:prstGeom prst="ellipse">
            <a:avLst/>
          </a:prstGeom>
          <a:solidFill>
            <a:srgbClr val="BEF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206" name="Google Shape;206;p6"/>
          <p:cNvSpPr txBox="1"/>
          <p:nvPr/>
        </p:nvSpPr>
        <p:spPr>
          <a:xfrm>
            <a:off x="685800" y="2670048"/>
            <a:ext cx="4572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0A0A0A"/>
                </a:solidFill>
                <a:latin typeface="Lato"/>
                <a:ea typeface="Lato"/>
                <a:cs typeface="Lato"/>
                <a:sym typeface="Lato"/>
              </a:rPr>
              <a:t>2</a:t>
            </a:r>
            <a:endParaRPr>
              <a:latin typeface="Lato"/>
              <a:ea typeface="Lato"/>
              <a:cs typeface="Lato"/>
              <a:sym typeface="Lato"/>
            </a:endParaRPr>
          </a:p>
        </p:txBody>
      </p:sp>
      <p:sp>
        <p:nvSpPr>
          <p:cNvPr id="207" name="Google Shape;207;p6"/>
          <p:cNvSpPr txBox="1"/>
          <p:nvPr/>
        </p:nvSpPr>
        <p:spPr>
          <a:xfrm>
            <a:off x="1371600" y="2496312"/>
            <a:ext cx="4114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A0A0A"/>
                </a:solidFill>
                <a:latin typeface="Lato"/>
                <a:ea typeface="Lato"/>
                <a:cs typeface="Lato"/>
                <a:sym typeface="Lato"/>
              </a:rPr>
              <a:t>APAC has structural issues beyond ramp</a:t>
            </a:r>
            <a:endParaRPr>
              <a:latin typeface="Lato"/>
              <a:ea typeface="Lato"/>
              <a:cs typeface="Lato"/>
              <a:sym typeface="Lato"/>
            </a:endParaRPr>
          </a:p>
        </p:txBody>
      </p:sp>
      <p:sp>
        <p:nvSpPr>
          <p:cNvPr id="208" name="Google Shape;208;p6"/>
          <p:cNvSpPr txBox="1"/>
          <p:nvPr/>
        </p:nvSpPr>
        <p:spPr>
          <a:xfrm>
            <a:off x="1371600" y="2834640"/>
            <a:ext cx="41148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Even fully ramped APAC reps at only 71.3%; two reps at near-zero with 6+ months</a:t>
            </a:r>
            <a:endParaRPr>
              <a:latin typeface="Lato"/>
              <a:ea typeface="Lato"/>
              <a:cs typeface="Lato"/>
              <a:sym typeface="Lato"/>
            </a:endParaRPr>
          </a:p>
        </p:txBody>
      </p:sp>
      <p:sp>
        <p:nvSpPr>
          <p:cNvPr id="209" name="Google Shape;209;p6"/>
          <p:cNvSpPr txBox="1"/>
          <p:nvPr/>
        </p:nvSpPr>
        <p:spPr>
          <a:xfrm>
            <a:off x="5943600" y="2496312"/>
            <a:ext cx="13716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6BBF3B"/>
                </a:solidFill>
                <a:latin typeface="Lato"/>
                <a:ea typeface="Lato"/>
                <a:cs typeface="Lato"/>
                <a:sym typeface="Lato"/>
              </a:rPr>
              <a:t>Data needed:</a:t>
            </a:r>
            <a:endParaRPr>
              <a:latin typeface="Lato"/>
              <a:ea typeface="Lato"/>
              <a:cs typeface="Lato"/>
              <a:sym typeface="Lato"/>
            </a:endParaRPr>
          </a:p>
        </p:txBody>
      </p:sp>
      <p:sp>
        <p:nvSpPr>
          <p:cNvPr id="210" name="Google Shape;210;p6"/>
          <p:cNvSpPr txBox="1"/>
          <p:nvPr/>
        </p:nvSpPr>
        <p:spPr>
          <a:xfrm>
            <a:off x="5943600" y="2770632"/>
            <a:ext cx="54864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Win/loss analysis, competitive landscape, product-market fit, SDR support</a:t>
            </a:r>
            <a:endParaRPr>
              <a:latin typeface="Lato"/>
              <a:ea typeface="Lato"/>
              <a:cs typeface="Lato"/>
              <a:sym typeface="Lato"/>
            </a:endParaRPr>
          </a:p>
        </p:txBody>
      </p:sp>
      <p:sp>
        <p:nvSpPr>
          <p:cNvPr id="211" name="Google Shape;211;p6"/>
          <p:cNvSpPr/>
          <p:nvPr/>
        </p:nvSpPr>
        <p:spPr>
          <a:xfrm>
            <a:off x="457200" y="3474720"/>
            <a:ext cx="11247120" cy="91440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212" name="Google Shape;212;p6"/>
          <p:cNvSpPr/>
          <p:nvPr/>
        </p:nvSpPr>
        <p:spPr>
          <a:xfrm>
            <a:off x="685800" y="3675888"/>
            <a:ext cx="457200" cy="457200"/>
          </a:xfrm>
          <a:prstGeom prst="ellipse">
            <a:avLst/>
          </a:prstGeom>
          <a:solidFill>
            <a:srgbClr val="BEF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213" name="Google Shape;213;p6"/>
          <p:cNvSpPr txBox="1"/>
          <p:nvPr/>
        </p:nvSpPr>
        <p:spPr>
          <a:xfrm>
            <a:off x="685800" y="3721608"/>
            <a:ext cx="4572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0A0A0A"/>
                </a:solidFill>
                <a:latin typeface="Lato"/>
                <a:ea typeface="Lato"/>
                <a:cs typeface="Lato"/>
                <a:sym typeface="Lato"/>
              </a:rPr>
              <a:t>3</a:t>
            </a:r>
            <a:endParaRPr>
              <a:latin typeface="Lato"/>
              <a:ea typeface="Lato"/>
              <a:cs typeface="Lato"/>
              <a:sym typeface="Lato"/>
            </a:endParaRPr>
          </a:p>
        </p:txBody>
      </p:sp>
      <p:sp>
        <p:nvSpPr>
          <p:cNvPr id="214" name="Google Shape;214;p6"/>
          <p:cNvSpPr txBox="1"/>
          <p:nvPr/>
        </p:nvSpPr>
        <p:spPr>
          <a:xfrm>
            <a:off x="1371600" y="3547872"/>
            <a:ext cx="4114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A0A0A"/>
                </a:solidFill>
                <a:latin typeface="Lato"/>
                <a:ea typeface="Lato"/>
                <a:cs typeface="Lato"/>
                <a:sym typeface="Lato"/>
              </a:rPr>
              <a:t>Recent hiring wave dilutes metrics</a:t>
            </a:r>
            <a:endParaRPr>
              <a:latin typeface="Lato"/>
              <a:ea typeface="Lato"/>
              <a:cs typeface="Lato"/>
              <a:sym typeface="Lato"/>
            </a:endParaRPr>
          </a:p>
        </p:txBody>
      </p:sp>
      <p:sp>
        <p:nvSpPr>
          <p:cNvPr id="215" name="Google Shape;215;p6"/>
          <p:cNvSpPr txBox="1"/>
          <p:nvPr/>
        </p:nvSpPr>
        <p:spPr>
          <a:xfrm>
            <a:off x="1371600" y="3886200"/>
            <a:ext cx="41148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17 of 81 AEs (21%) ramping; NA has 10 of 17 ramping reps</a:t>
            </a:r>
            <a:endParaRPr>
              <a:latin typeface="Lato"/>
              <a:ea typeface="Lato"/>
              <a:cs typeface="Lato"/>
              <a:sym typeface="Lato"/>
            </a:endParaRPr>
          </a:p>
        </p:txBody>
      </p:sp>
      <p:sp>
        <p:nvSpPr>
          <p:cNvPr id="216" name="Google Shape;216;p6"/>
          <p:cNvSpPr txBox="1"/>
          <p:nvPr/>
        </p:nvSpPr>
        <p:spPr>
          <a:xfrm>
            <a:off x="5943600" y="3547872"/>
            <a:ext cx="13716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6BBF3B"/>
                </a:solidFill>
                <a:latin typeface="Lato"/>
                <a:ea typeface="Lato"/>
                <a:cs typeface="Lato"/>
                <a:sym typeface="Lato"/>
              </a:rPr>
              <a:t>Data needed:</a:t>
            </a:r>
            <a:endParaRPr>
              <a:latin typeface="Lato"/>
              <a:ea typeface="Lato"/>
              <a:cs typeface="Lato"/>
              <a:sym typeface="Lato"/>
            </a:endParaRPr>
          </a:p>
        </p:txBody>
      </p:sp>
      <p:sp>
        <p:nvSpPr>
          <p:cNvPr id="217" name="Google Shape;217;p6"/>
          <p:cNvSpPr txBox="1"/>
          <p:nvPr/>
        </p:nvSpPr>
        <p:spPr>
          <a:xfrm>
            <a:off x="5943600" y="3822192"/>
            <a:ext cx="54864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Hiring dates, planned ramp timelines, historical ramp curves</a:t>
            </a:r>
            <a:endParaRPr>
              <a:latin typeface="Lato"/>
              <a:ea typeface="Lato"/>
              <a:cs typeface="Lato"/>
              <a:sym typeface="Lato"/>
            </a:endParaRPr>
          </a:p>
        </p:txBody>
      </p:sp>
      <p:sp>
        <p:nvSpPr>
          <p:cNvPr id="218" name="Google Shape;218;p6"/>
          <p:cNvSpPr/>
          <p:nvPr/>
        </p:nvSpPr>
        <p:spPr>
          <a:xfrm>
            <a:off x="457200" y="4526279"/>
            <a:ext cx="11247120" cy="91440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219" name="Google Shape;219;p6"/>
          <p:cNvSpPr/>
          <p:nvPr/>
        </p:nvSpPr>
        <p:spPr>
          <a:xfrm>
            <a:off x="685800" y="4727447"/>
            <a:ext cx="457200" cy="457200"/>
          </a:xfrm>
          <a:prstGeom prst="ellipse">
            <a:avLst/>
          </a:prstGeom>
          <a:solidFill>
            <a:srgbClr val="BEF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220" name="Google Shape;220;p6"/>
          <p:cNvSpPr txBox="1"/>
          <p:nvPr/>
        </p:nvSpPr>
        <p:spPr>
          <a:xfrm>
            <a:off x="685800" y="4773167"/>
            <a:ext cx="4572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0A0A0A"/>
                </a:solidFill>
                <a:latin typeface="Lato"/>
                <a:ea typeface="Lato"/>
                <a:cs typeface="Lato"/>
                <a:sym typeface="Lato"/>
              </a:rPr>
              <a:t>4</a:t>
            </a:r>
            <a:endParaRPr>
              <a:latin typeface="Lato"/>
              <a:ea typeface="Lato"/>
              <a:cs typeface="Lato"/>
              <a:sym typeface="Lato"/>
            </a:endParaRPr>
          </a:p>
        </p:txBody>
      </p:sp>
      <p:sp>
        <p:nvSpPr>
          <p:cNvPr id="221" name="Google Shape;221;p6"/>
          <p:cNvSpPr txBox="1"/>
          <p:nvPr/>
        </p:nvSpPr>
        <p:spPr>
          <a:xfrm>
            <a:off x="1371600" y="4599431"/>
            <a:ext cx="4114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A0A0A"/>
                </a:solidFill>
                <a:latin typeface="Lato"/>
                <a:ea typeface="Lato"/>
                <a:cs typeface="Lato"/>
                <a:sym typeface="Lato"/>
              </a:rPr>
              <a:t>Top performers master large-deal hunting</a:t>
            </a:r>
            <a:endParaRPr>
              <a:latin typeface="Lato"/>
              <a:ea typeface="Lato"/>
              <a:cs typeface="Lato"/>
              <a:sym typeface="Lato"/>
            </a:endParaRPr>
          </a:p>
        </p:txBody>
      </p:sp>
      <p:sp>
        <p:nvSpPr>
          <p:cNvPr id="222" name="Google Shape;222;p6"/>
          <p:cNvSpPr txBox="1"/>
          <p:nvPr/>
        </p:nvSpPr>
        <p:spPr>
          <a:xfrm>
            <a:off x="1371600" y="4937759"/>
            <a:ext cx="41148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LATAM/NA compensate low SQL with $558K-$570K avg deals</a:t>
            </a:r>
            <a:endParaRPr>
              <a:latin typeface="Lato"/>
              <a:ea typeface="Lato"/>
              <a:cs typeface="Lato"/>
              <a:sym typeface="Lato"/>
            </a:endParaRPr>
          </a:p>
        </p:txBody>
      </p:sp>
      <p:sp>
        <p:nvSpPr>
          <p:cNvPr id="223" name="Google Shape;223;p6"/>
          <p:cNvSpPr txBox="1"/>
          <p:nvPr/>
        </p:nvSpPr>
        <p:spPr>
          <a:xfrm>
            <a:off x="5943600" y="4599431"/>
            <a:ext cx="13716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6BBF3B"/>
                </a:solidFill>
                <a:latin typeface="Lato"/>
                <a:ea typeface="Lato"/>
                <a:cs typeface="Lato"/>
                <a:sym typeface="Lato"/>
              </a:rPr>
              <a:t>Data needed:</a:t>
            </a:r>
            <a:endParaRPr>
              <a:latin typeface="Lato"/>
              <a:ea typeface="Lato"/>
              <a:cs typeface="Lato"/>
              <a:sym typeface="Lato"/>
            </a:endParaRPr>
          </a:p>
        </p:txBody>
      </p:sp>
      <p:sp>
        <p:nvSpPr>
          <p:cNvPr id="224" name="Google Shape;224;p6"/>
          <p:cNvSpPr txBox="1"/>
          <p:nvPr/>
        </p:nvSpPr>
        <p:spPr>
          <a:xfrm>
            <a:off x="5943600" y="4873751"/>
            <a:ext cx="54864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Deal-level data, vertical breakdown, expansion vs. new logo</a:t>
            </a:r>
            <a:endParaRPr>
              <a:latin typeface="Lato"/>
              <a:ea typeface="Lato"/>
              <a:cs typeface="Lato"/>
              <a:sym typeface="Lato"/>
            </a:endParaRPr>
          </a:p>
        </p:txBody>
      </p:sp>
      <p:sp>
        <p:nvSpPr>
          <p:cNvPr id="225" name="Google Shape;225;p6"/>
          <p:cNvSpPr/>
          <p:nvPr/>
        </p:nvSpPr>
        <p:spPr>
          <a:xfrm>
            <a:off x="457200" y="5577840"/>
            <a:ext cx="11247120" cy="91440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226" name="Google Shape;226;p6"/>
          <p:cNvSpPr/>
          <p:nvPr/>
        </p:nvSpPr>
        <p:spPr>
          <a:xfrm>
            <a:off x="685800" y="5779008"/>
            <a:ext cx="457200" cy="457200"/>
          </a:xfrm>
          <a:prstGeom prst="ellipse">
            <a:avLst/>
          </a:prstGeom>
          <a:solidFill>
            <a:srgbClr val="BEF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227" name="Google Shape;227;p6"/>
          <p:cNvSpPr txBox="1"/>
          <p:nvPr/>
        </p:nvSpPr>
        <p:spPr>
          <a:xfrm>
            <a:off x="685800" y="5824728"/>
            <a:ext cx="4572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0A0A0A"/>
                </a:solidFill>
                <a:latin typeface="Lato"/>
                <a:ea typeface="Lato"/>
                <a:cs typeface="Lato"/>
                <a:sym typeface="Lato"/>
              </a:rPr>
              <a:t>5</a:t>
            </a:r>
            <a:endParaRPr>
              <a:latin typeface="Lato"/>
              <a:ea typeface="Lato"/>
              <a:cs typeface="Lato"/>
              <a:sym typeface="Lato"/>
            </a:endParaRPr>
          </a:p>
        </p:txBody>
      </p:sp>
      <p:sp>
        <p:nvSpPr>
          <p:cNvPr id="228" name="Google Shape;228;p6"/>
          <p:cNvSpPr txBox="1"/>
          <p:nvPr/>
        </p:nvSpPr>
        <p:spPr>
          <a:xfrm>
            <a:off x="1371600" y="5650992"/>
            <a:ext cx="4114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A0A0A"/>
                </a:solidFill>
                <a:latin typeface="Lato"/>
                <a:ea typeface="Lato"/>
                <a:cs typeface="Lato"/>
                <a:sym typeface="Lato"/>
              </a:rPr>
              <a:t>Bottom performers need formal intervention</a:t>
            </a:r>
            <a:endParaRPr>
              <a:latin typeface="Lato"/>
              <a:ea typeface="Lato"/>
              <a:cs typeface="Lato"/>
              <a:sym typeface="Lato"/>
            </a:endParaRPr>
          </a:p>
        </p:txBody>
      </p:sp>
      <p:sp>
        <p:nvSpPr>
          <p:cNvPr id="229" name="Google Shape;229;p6"/>
          <p:cNvSpPr txBox="1"/>
          <p:nvPr/>
        </p:nvSpPr>
        <p:spPr>
          <a:xfrm>
            <a:off x="1371600" y="5989320"/>
            <a:ext cx="41148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7 fully ramped AEs below 50% pipeline attainment</a:t>
            </a:r>
            <a:endParaRPr>
              <a:latin typeface="Lato"/>
              <a:ea typeface="Lato"/>
              <a:cs typeface="Lato"/>
              <a:sym typeface="Lato"/>
            </a:endParaRPr>
          </a:p>
        </p:txBody>
      </p:sp>
      <p:sp>
        <p:nvSpPr>
          <p:cNvPr id="230" name="Google Shape;230;p6"/>
          <p:cNvSpPr txBox="1"/>
          <p:nvPr/>
        </p:nvSpPr>
        <p:spPr>
          <a:xfrm>
            <a:off x="5943600" y="5650992"/>
            <a:ext cx="13716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6BBF3B"/>
                </a:solidFill>
                <a:latin typeface="Lato"/>
                <a:ea typeface="Lato"/>
                <a:cs typeface="Lato"/>
                <a:sym typeface="Lato"/>
              </a:rPr>
              <a:t>Data needed:</a:t>
            </a:r>
            <a:endParaRPr>
              <a:latin typeface="Lato"/>
              <a:ea typeface="Lato"/>
              <a:cs typeface="Lato"/>
              <a:sym typeface="Lato"/>
            </a:endParaRPr>
          </a:p>
        </p:txBody>
      </p:sp>
      <p:sp>
        <p:nvSpPr>
          <p:cNvPr id="231" name="Google Shape;231;p6"/>
          <p:cNvSpPr txBox="1"/>
          <p:nvPr/>
        </p:nvSpPr>
        <p:spPr>
          <a:xfrm>
            <a:off x="5943600" y="5925312"/>
            <a:ext cx="54864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5A5A5A"/>
                </a:solidFill>
                <a:latin typeface="Lato"/>
                <a:ea typeface="Lato"/>
                <a:cs typeface="Lato"/>
                <a:sym typeface="Lato"/>
              </a:rPr>
              <a:t>Manager mapping, coaching logs, PIP history, activity data</a:t>
            </a:r>
            <a:endParaRPr>
              <a:latin typeface="Lato"/>
              <a:ea typeface="Lato"/>
              <a:cs typeface="Lato"/>
              <a:sym typeface="Lato"/>
            </a:endParaRPr>
          </a:p>
        </p:txBody>
      </p:sp>
      <p:sp>
        <p:nvSpPr>
          <p:cNvPr id="232" name="Google Shape;232;p6"/>
          <p:cNvSpPr txBox="1"/>
          <p:nvPr/>
        </p:nvSpPr>
        <p:spPr>
          <a:xfrm>
            <a:off x="11155680" y="6446520"/>
            <a:ext cx="7314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900" u="none" cap="none" strike="noStrike">
                <a:solidFill>
                  <a:srgbClr val="8A8A82"/>
                </a:solidFill>
                <a:latin typeface="Lato"/>
                <a:ea typeface="Lato"/>
                <a:cs typeface="Lato"/>
                <a:sym typeface="Lato"/>
              </a:rPr>
              <a:t>6/7</a:t>
            </a:r>
            <a:endParaRPr>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EB"/>
        </a:solidFill>
      </p:bgPr>
    </p:bg>
    <p:spTree>
      <p:nvGrpSpPr>
        <p:cNvPr id="236" name="Shape 236"/>
        <p:cNvGrpSpPr/>
        <p:nvPr/>
      </p:nvGrpSpPr>
      <p:grpSpPr>
        <a:xfrm>
          <a:off x="0" y="0"/>
          <a:ext cx="0" cy="0"/>
          <a:chOff x="0" y="0"/>
          <a:chExt cx="0" cy="0"/>
        </a:xfrm>
      </p:grpSpPr>
      <p:sp>
        <p:nvSpPr>
          <p:cNvPr id="237" name="Google Shape;237;p7"/>
          <p:cNvSpPr txBox="1"/>
          <p:nvPr/>
        </p:nvSpPr>
        <p:spPr>
          <a:xfrm>
            <a:off x="731520" y="365760"/>
            <a:ext cx="10058400" cy="892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0A0A0A"/>
                </a:solidFill>
                <a:latin typeface="Lato"/>
                <a:ea typeface="Lato"/>
                <a:cs typeface="Lato"/>
                <a:sym typeface="Lato"/>
              </a:rPr>
              <a:t>Prioritized action plan: recalibrate targets, fix APAC, accelerate ramp, build deal quality metrics</a:t>
            </a:r>
            <a:endParaRPr>
              <a:latin typeface="Lato"/>
              <a:ea typeface="Lato"/>
              <a:cs typeface="Lato"/>
              <a:sym typeface="Lato"/>
            </a:endParaRPr>
          </a:p>
        </p:txBody>
      </p:sp>
      <p:sp>
        <p:nvSpPr>
          <p:cNvPr id="238" name="Google Shape;238;p7"/>
          <p:cNvSpPr txBox="1"/>
          <p:nvPr/>
        </p:nvSpPr>
        <p:spPr>
          <a:xfrm>
            <a:off x="731520" y="868680"/>
            <a:ext cx="10058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300" u="none" cap="none" strike="noStrike">
                <a:solidFill>
                  <a:srgbClr val="8A8A82"/>
                </a:solidFill>
                <a:latin typeface="Lato"/>
                <a:ea typeface="Lato"/>
                <a:cs typeface="Lato"/>
                <a:sym typeface="Lato"/>
              </a:rPr>
              <a:t>Recommendations organized by time horizon and expected impact</a:t>
            </a:r>
            <a:endParaRPr>
              <a:latin typeface="Lato"/>
              <a:ea typeface="Lato"/>
              <a:cs typeface="Lato"/>
              <a:sym typeface="Lato"/>
            </a:endParaRPr>
          </a:p>
        </p:txBody>
      </p:sp>
      <p:sp>
        <p:nvSpPr>
          <p:cNvPr id="239" name="Google Shape;239;p7"/>
          <p:cNvSpPr/>
          <p:nvPr/>
        </p:nvSpPr>
        <p:spPr>
          <a:xfrm>
            <a:off x="457200" y="1371600"/>
            <a:ext cx="5577840" cy="512064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240" name="Google Shape;240;p7"/>
          <p:cNvSpPr/>
          <p:nvPr/>
        </p:nvSpPr>
        <p:spPr>
          <a:xfrm>
            <a:off x="457200" y="1371600"/>
            <a:ext cx="5577840" cy="457200"/>
          </a:xfrm>
          <a:prstGeom prst="rect">
            <a:avLst/>
          </a:prstGeom>
          <a:solidFill>
            <a:srgbClr val="BEF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241" name="Google Shape;241;p7"/>
          <p:cNvSpPr txBox="1"/>
          <p:nvPr/>
        </p:nvSpPr>
        <p:spPr>
          <a:xfrm>
            <a:off x="640080" y="1399032"/>
            <a:ext cx="51207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A0A0A"/>
                </a:solidFill>
                <a:latin typeface="Lato"/>
                <a:ea typeface="Lato"/>
                <a:cs typeface="Lato"/>
                <a:sym typeface="Lato"/>
              </a:rPr>
              <a:t>IMMEDIATE  (0-30 DAYS)</a:t>
            </a:r>
            <a:endParaRPr>
              <a:latin typeface="Lato"/>
              <a:ea typeface="Lato"/>
              <a:cs typeface="Lato"/>
              <a:sym typeface="Lato"/>
            </a:endParaRPr>
          </a:p>
        </p:txBody>
      </p:sp>
      <p:sp>
        <p:nvSpPr>
          <p:cNvPr id="242" name="Google Shape;242;p7"/>
          <p:cNvSpPr txBox="1"/>
          <p:nvPr/>
        </p:nvSpPr>
        <p:spPr>
          <a:xfrm>
            <a:off x="731520" y="2011680"/>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A0A0A"/>
                </a:solidFill>
                <a:latin typeface="Lato"/>
                <a:ea typeface="Lato"/>
                <a:cs typeface="Lato"/>
                <a:sym typeface="Lato"/>
              </a:rPr>
              <a:t>Audit SQL target methodology</a:t>
            </a:r>
            <a:endParaRPr>
              <a:latin typeface="Lato"/>
              <a:ea typeface="Lato"/>
              <a:cs typeface="Lato"/>
              <a:sym typeface="Lato"/>
            </a:endParaRPr>
          </a:p>
        </p:txBody>
      </p:sp>
      <p:sp>
        <p:nvSpPr>
          <p:cNvPr id="243" name="Google Shape;243;p7"/>
          <p:cNvSpPr txBox="1"/>
          <p:nvPr/>
        </p:nvSpPr>
        <p:spPr>
          <a:xfrm>
            <a:off x="731520" y="2331720"/>
            <a:ext cx="50292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100" u="none" cap="none" strike="noStrike">
                <a:solidFill>
                  <a:srgbClr val="5A5A5A"/>
                </a:solidFill>
                <a:latin typeface="Lato"/>
                <a:ea typeface="Lato"/>
                <a:cs typeface="Lato"/>
                <a:sym typeface="Lato"/>
              </a:rPr>
              <a:t>Conduct bottoms-up capacity model to recalibrate. The persistent 21pp gap between SQL and pipeline attainment signals structural mis-set, not just execution gaps.</a:t>
            </a:r>
            <a:endParaRPr>
              <a:latin typeface="Lato"/>
              <a:ea typeface="Lato"/>
              <a:cs typeface="Lato"/>
              <a:sym typeface="Lato"/>
            </a:endParaRPr>
          </a:p>
        </p:txBody>
      </p:sp>
      <p:sp>
        <p:nvSpPr>
          <p:cNvPr id="244" name="Google Shape;244;p7"/>
          <p:cNvSpPr txBox="1"/>
          <p:nvPr/>
        </p:nvSpPr>
        <p:spPr>
          <a:xfrm>
            <a:off x="731520" y="3429000"/>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A0A0A"/>
                </a:solidFill>
                <a:latin typeface="Lato"/>
                <a:ea typeface="Lato"/>
                <a:cs typeface="Lato"/>
                <a:sym typeface="Lato"/>
              </a:rPr>
              <a:t>Deep-dive into APAC</a:t>
            </a:r>
            <a:endParaRPr>
              <a:latin typeface="Lato"/>
              <a:ea typeface="Lato"/>
              <a:cs typeface="Lato"/>
              <a:sym typeface="Lato"/>
            </a:endParaRPr>
          </a:p>
        </p:txBody>
      </p:sp>
      <p:sp>
        <p:nvSpPr>
          <p:cNvPr id="245" name="Google Shape;245;p7"/>
          <p:cNvSpPr txBox="1"/>
          <p:nvPr/>
        </p:nvSpPr>
        <p:spPr>
          <a:xfrm>
            <a:off x="731520" y="3749040"/>
            <a:ext cx="50292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100" u="none" cap="none" strike="noStrike">
                <a:solidFill>
                  <a:srgbClr val="5A5A5A"/>
                </a:solidFill>
                <a:latin typeface="Lato"/>
                <a:ea typeface="Lato"/>
                <a:cs typeface="Lato"/>
                <a:sym typeface="Lato"/>
              </a:rPr>
              <a:t>Launch focused review with APAC sales leader: product-market fit, competitive positioning, enablement resources. Build individual remediation plans for reps below 50%.</a:t>
            </a:r>
            <a:endParaRPr>
              <a:latin typeface="Lato"/>
              <a:ea typeface="Lato"/>
              <a:cs typeface="Lato"/>
              <a:sym typeface="Lato"/>
            </a:endParaRPr>
          </a:p>
        </p:txBody>
      </p:sp>
      <p:sp>
        <p:nvSpPr>
          <p:cNvPr id="246" name="Google Shape;246;p7"/>
          <p:cNvSpPr txBox="1"/>
          <p:nvPr/>
        </p:nvSpPr>
        <p:spPr>
          <a:xfrm>
            <a:off x="731520" y="4846320"/>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A0A0A"/>
                </a:solidFill>
                <a:latin typeface="Lato"/>
                <a:ea typeface="Lato"/>
                <a:cs typeface="Lato"/>
                <a:sym typeface="Lato"/>
              </a:rPr>
              <a:t>Performance-manage bottom cohort</a:t>
            </a:r>
            <a:endParaRPr>
              <a:latin typeface="Lato"/>
              <a:ea typeface="Lato"/>
              <a:cs typeface="Lato"/>
              <a:sym typeface="Lato"/>
            </a:endParaRPr>
          </a:p>
        </p:txBody>
      </p:sp>
      <p:sp>
        <p:nvSpPr>
          <p:cNvPr id="247" name="Google Shape;247;p7"/>
          <p:cNvSpPr txBox="1"/>
          <p:nvPr/>
        </p:nvSpPr>
        <p:spPr>
          <a:xfrm>
            <a:off x="731520" y="5166360"/>
            <a:ext cx="50292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100" u="none" cap="none" strike="noStrike">
                <a:solidFill>
                  <a:srgbClr val="5A5A5A"/>
                </a:solidFill>
                <a:latin typeface="Lato"/>
                <a:ea typeface="Lato"/>
                <a:cs typeface="Lato"/>
                <a:sym typeface="Lato"/>
              </a:rPr>
              <a:t>Seven fully ramped AEs below 50% pipeline attainment need structured conversations — coaching plan, territory adjustment, or formal PIP based on root cause.</a:t>
            </a:r>
            <a:endParaRPr>
              <a:latin typeface="Lato"/>
              <a:ea typeface="Lato"/>
              <a:cs typeface="Lato"/>
              <a:sym typeface="Lato"/>
            </a:endParaRPr>
          </a:p>
        </p:txBody>
      </p:sp>
      <p:sp>
        <p:nvSpPr>
          <p:cNvPr id="248" name="Google Shape;248;p7"/>
          <p:cNvSpPr/>
          <p:nvPr/>
        </p:nvSpPr>
        <p:spPr>
          <a:xfrm>
            <a:off x="6309360" y="1371600"/>
            <a:ext cx="5577840" cy="5120640"/>
          </a:xfrm>
          <a:prstGeom prst="roundRect">
            <a:avLst>
              <a:gd fmla="val 16667" name="adj"/>
            </a:avLst>
          </a:prstGeom>
          <a:solidFill>
            <a:srgbClr val="FFFFFF"/>
          </a:solidFill>
          <a:ln cap="flat" cmpd="sng" w="9525">
            <a:solidFill>
              <a:srgbClr val="E0E0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249" name="Google Shape;249;p7"/>
          <p:cNvSpPr/>
          <p:nvPr/>
        </p:nvSpPr>
        <p:spPr>
          <a:xfrm>
            <a:off x="6309360" y="1371600"/>
            <a:ext cx="5577840" cy="457200"/>
          </a:xfrm>
          <a:prstGeom prst="rect">
            <a:avLst/>
          </a:prstGeom>
          <a:solidFill>
            <a:srgbClr val="9EDB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Lato"/>
              <a:ea typeface="Lato"/>
              <a:cs typeface="Lato"/>
              <a:sym typeface="Lato"/>
            </a:endParaRPr>
          </a:p>
        </p:txBody>
      </p:sp>
      <p:sp>
        <p:nvSpPr>
          <p:cNvPr id="250" name="Google Shape;250;p7"/>
          <p:cNvSpPr txBox="1"/>
          <p:nvPr/>
        </p:nvSpPr>
        <p:spPr>
          <a:xfrm>
            <a:off x="6492240" y="1399032"/>
            <a:ext cx="51207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A0A0A"/>
                </a:solidFill>
                <a:latin typeface="Lato"/>
                <a:ea typeface="Lato"/>
                <a:cs typeface="Lato"/>
                <a:sym typeface="Lato"/>
              </a:rPr>
              <a:t>MEDIUM-TERM  (30-90 DAYS)</a:t>
            </a:r>
            <a:endParaRPr>
              <a:latin typeface="Lato"/>
              <a:ea typeface="Lato"/>
              <a:cs typeface="Lato"/>
              <a:sym typeface="Lato"/>
            </a:endParaRPr>
          </a:p>
        </p:txBody>
      </p:sp>
      <p:sp>
        <p:nvSpPr>
          <p:cNvPr id="251" name="Google Shape;251;p7"/>
          <p:cNvSpPr txBox="1"/>
          <p:nvPr/>
        </p:nvSpPr>
        <p:spPr>
          <a:xfrm>
            <a:off x="6583680" y="2011680"/>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A0A0A"/>
                </a:solidFill>
                <a:latin typeface="Lato"/>
                <a:ea typeface="Lato"/>
                <a:cs typeface="Lato"/>
                <a:sym typeface="Lato"/>
              </a:rPr>
              <a:t>Accelerate ramp programs</a:t>
            </a:r>
            <a:endParaRPr>
              <a:latin typeface="Lato"/>
              <a:ea typeface="Lato"/>
              <a:cs typeface="Lato"/>
              <a:sym typeface="Lato"/>
            </a:endParaRPr>
          </a:p>
        </p:txBody>
      </p:sp>
      <p:sp>
        <p:nvSpPr>
          <p:cNvPr id="252" name="Google Shape;252;p7"/>
          <p:cNvSpPr txBox="1"/>
          <p:nvPr/>
        </p:nvSpPr>
        <p:spPr>
          <a:xfrm>
            <a:off x="6583680" y="2331720"/>
            <a:ext cx="50292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100" u="none" cap="none" strike="noStrike">
                <a:solidFill>
                  <a:srgbClr val="5A5A5A"/>
                </a:solidFill>
                <a:latin typeface="Lato"/>
                <a:ea typeface="Lato"/>
                <a:cs typeface="Lato"/>
                <a:sym typeface="Lato"/>
              </a:rPr>
              <a:t>Invest in structured onboarding: buddy programs with top performers, territory-specific playbooks, milestone-based targets. 21% ramping is a significant drag.</a:t>
            </a:r>
            <a:endParaRPr>
              <a:latin typeface="Lato"/>
              <a:ea typeface="Lato"/>
              <a:cs typeface="Lato"/>
              <a:sym typeface="Lato"/>
            </a:endParaRPr>
          </a:p>
        </p:txBody>
      </p:sp>
      <p:sp>
        <p:nvSpPr>
          <p:cNvPr id="253" name="Google Shape;253;p7"/>
          <p:cNvSpPr txBox="1"/>
          <p:nvPr/>
        </p:nvSpPr>
        <p:spPr>
          <a:xfrm>
            <a:off x="6583680" y="3429000"/>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A0A0A"/>
                </a:solidFill>
                <a:latin typeface="Lato"/>
                <a:ea typeface="Lato"/>
                <a:cs typeface="Lato"/>
                <a:sym typeface="Lato"/>
              </a:rPr>
              <a:t>Build deal quality composite metric</a:t>
            </a:r>
            <a:endParaRPr>
              <a:latin typeface="Lato"/>
              <a:ea typeface="Lato"/>
              <a:cs typeface="Lato"/>
              <a:sym typeface="Lato"/>
            </a:endParaRPr>
          </a:p>
        </p:txBody>
      </p:sp>
      <p:sp>
        <p:nvSpPr>
          <p:cNvPr id="254" name="Google Shape;254;p7"/>
          <p:cNvSpPr txBox="1"/>
          <p:nvPr/>
        </p:nvSpPr>
        <p:spPr>
          <a:xfrm>
            <a:off x="6583680" y="3749040"/>
            <a:ext cx="50292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100" u="none" cap="none" strike="noStrike">
                <a:solidFill>
                  <a:srgbClr val="5A5A5A"/>
                </a:solidFill>
                <a:latin typeface="Lato"/>
                <a:ea typeface="Lato"/>
                <a:cs typeface="Lato"/>
                <a:sym typeface="Lato"/>
              </a:rPr>
              <a:t>Pipeline per SQL, Win Rate, Avg Deal Size — create a single score to understand quality vs. quantity tradeoffs and normalize cross-territory comparison.</a:t>
            </a:r>
            <a:endParaRPr>
              <a:latin typeface="Lato"/>
              <a:ea typeface="Lato"/>
              <a:cs typeface="Lato"/>
              <a:sym typeface="Lato"/>
            </a:endParaRPr>
          </a:p>
        </p:txBody>
      </p:sp>
      <p:sp>
        <p:nvSpPr>
          <p:cNvPr id="255" name="Google Shape;255;p7"/>
          <p:cNvSpPr txBox="1"/>
          <p:nvPr/>
        </p:nvSpPr>
        <p:spPr>
          <a:xfrm>
            <a:off x="6583680" y="4846320"/>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A0A0A"/>
                </a:solidFill>
                <a:latin typeface="Lato"/>
                <a:ea typeface="Lato"/>
                <a:cs typeface="Lato"/>
                <a:sym typeface="Lato"/>
              </a:rPr>
              <a:t>Review territory design &amp; quota equity</a:t>
            </a:r>
            <a:endParaRPr>
              <a:latin typeface="Lato"/>
              <a:ea typeface="Lato"/>
              <a:cs typeface="Lato"/>
              <a:sym typeface="Lato"/>
            </a:endParaRPr>
          </a:p>
        </p:txBody>
      </p:sp>
      <p:sp>
        <p:nvSpPr>
          <p:cNvPr id="256" name="Google Shape;256;p7"/>
          <p:cNvSpPr txBox="1"/>
          <p:nvPr/>
        </p:nvSpPr>
        <p:spPr>
          <a:xfrm>
            <a:off x="6583680" y="5166360"/>
            <a:ext cx="50292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100" u="none" cap="none" strike="noStrike">
                <a:solidFill>
                  <a:srgbClr val="5A5A5A"/>
                </a:solidFill>
                <a:latin typeface="Lato"/>
                <a:ea typeface="Lato"/>
                <a:cs typeface="Lato"/>
                <a:sym typeface="Lato"/>
              </a:rPr>
              <a:t>Pipeline targets range $10M-$12.5M while deal sizes vary by 30%. Ensure quotas reflect territory potential. Monitor the NA hiring wave (10 ramping reps).</a:t>
            </a:r>
            <a:endParaRPr>
              <a:latin typeface="Lato"/>
              <a:ea typeface="Lato"/>
              <a:cs typeface="Lato"/>
              <a:sym typeface="Lato"/>
            </a:endParaRPr>
          </a:p>
        </p:txBody>
      </p:sp>
      <p:sp>
        <p:nvSpPr>
          <p:cNvPr id="257" name="Google Shape;257;p7"/>
          <p:cNvSpPr txBox="1"/>
          <p:nvPr/>
        </p:nvSpPr>
        <p:spPr>
          <a:xfrm>
            <a:off x="11155680" y="6446520"/>
            <a:ext cx="7314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900" u="none" cap="none" strike="noStrike">
                <a:solidFill>
                  <a:srgbClr val="8A8A82"/>
                </a:solidFill>
                <a:latin typeface="Lato"/>
                <a:ea typeface="Lato"/>
                <a:cs typeface="Lato"/>
                <a:sym typeface="Lato"/>
              </a:rPr>
              <a:t>7/7</a:t>
            </a:r>
            <a:endParaRPr>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descr="Beautify this slide" id="262" name="Google Shape;262;g3c913707cf1_1_13"/>
          <p:cNvPicPr preferRelativeResize="0"/>
          <p:nvPr/>
        </p:nvPicPr>
        <p:blipFill>
          <a:blip r:embed="rId3">
            <a:alphaModFix/>
          </a:blip>
          <a:stretch>
            <a:fillRect/>
          </a:stretch>
        </p:blipFill>
        <p:spPr>
          <a:xfrm>
            <a:off x="-47788" y="0"/>
            <a:ext cx="12287250"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less text" id="267" name="Google Shape;267;g3c913707cf1_1_17"/>
          <p:cNvPicPr preferRelativeResize="0"/>
          <p:nvPr/>
        </p:nvPicPr>
        <p:blipFill>
          <a:blip r:embed="rId3">
            <a:alphaModFix/>
          </a:blip>
          <a:stretch>
            <a:fillRect/>
          </a:stretch>
        </p:blipFill>
        <p:spPr>
          <a:xfrm>
            <a:off x="-47788" y="0"/>
            <a:ext cx="1228725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