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Lato"/>
              </a:defRPr>
            </a:pPr>
            <a:r>
              <a:t>EMEA leads all territories; APAC pipeline at 56% signals systemic underperformance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82"/>
                </a:solidFill>
                <a:latin typeface="Lato"/>
              </a:defRPr>
            </a:pPr>
            <a:r>
              <a:t>Territory attainment vs. target  |  81 AEs across 4 regions  |  Q4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772400" cy="5120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1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589520" cy="48797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280160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04F5F"/>
                </a:solidFill>
                <a:latin typeface="Lato"/>
              </a:defRPr>
            </a:pPr>
            <a:r>
              <a:t>57.7%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Lato"/>
              </a:defRPr>
            </a:pPr>
            <a:r>
              <a:t>Overall SQL</a:t>
            </a:r>
            <a:br/>
            <a:r>
              <a:t>Attainment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514600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6060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BBF3B"/>
                </a:solidFill>
                <a:latin typeface="Lato"/>
              </a:defRPr>
            </a:pPr>
            <a:r>
              <a:t>78.7%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Lato"/>
              </a:defRPr>
            </a:pPr>
            <a:r>
              <a:t>Overall Pipeline</a:t>
            </a:r>
            <a:br/>
            <a:r>
              <a:t>Attainment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749039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84047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BBF3B"/>
                </a:solidFill>
                <a:latin typeface="Lato"/>
              </a:defRPr>
            </a:pPr>
            <a:r>
              <a:t>$630M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3891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Lato"/>
              </a:defRPr>
            </a:pPr>
            <a:r>
              <a:t>Pipeline</a:t>
            </a:r>
            <a:br/>
            <a:r>
              <a:t>Generated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983480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5074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8A65"/>
                </a:solidFill>
                <a:latin typeface="Lato"/>
              </a:defRPr>
            </a:pPr>
            <a:r>
              <a:t>21pp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623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Lato"/>
              </a:defRPr>
            </a:pPr>
            <a:r>
              <a:t>SQL-Pipeline</a:t>
            </a:r>
            <a:br/>
            <a:r>
              <a:t>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A82"/>
                </a:solidFill>
                <a:latin typeface="Lato"/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Lato"/>
              </a:defRPr>
            </a:pPr>
            <a:r>
              <a:t>Pipeline attainment outpaces SQL by 11-33pp — fewer leads, but larger deals compensate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82"/>
                </a:solidFill>
                <a:latin typeface="Lato"/>
              </a:defRPr>
            </a:pPr>
            <a:r>
              <a:t>The persistent gap suggests SQL targets may be structurally miscalibrated relative to pipeline reality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772400" cy="4663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589520" cy="41873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280160"/>
            <a:ext cx="338328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BF3B"/>
                </a:solidFill>
                <a:latin typeface="Lato"/>
              </a:defRPr>
            </a:pPr>
            <a:r>
              <a:t>Avg Deal Size by Territory</a:t>
            </a:r>
          </a:p>
        </p:txBody>
      </p:sp>
      <p:pic>
        <p:nvPicPr>
          <p:cNvPr id="8" name="Picture 7" descr="s2_de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737360"/>
            <a:ext cx="3383280" cy="25815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4526280"/>
            <a:ext cx="33832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45811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04F5F"/>
                </a:solidFill>
                <a:latin typeface="Lato"/>
              </a:defRPr>
            </a:pPr>
            <a:r>
              <a:t>SQL Targets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782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Lato"/>
              </a:defRPr>
            </a:pPr>
            <a:r>
              <a:t>May not reflect market reality. Only 3 of 46 fully ramped AEs exceed 100% 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212080"/>
            <a:ext cx="33832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52669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396E4"/>
                </a:solidFill>
                <a:latin typeface="Lato"/>
              </a:defRPr>
            </a:pPr>
            <a:r>
              <a:t>Deal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681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Lato"/>
              </a:defRPr>
            </a:pPr>
            <a:r>
              <a:t>LATAM/NA generate $558K-$570K avg deals vs $437K EMEA — fewer but larger.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38328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59527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A65"/>
                </a:solidFill>
                <a:latin typeface="Lato"/>
              </a:defRPr>
            </a:pPr>
            <a:r>
              <a:t>Qualification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153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A5A"/>
                </a:solidFill>
                <a:latin typeface="Lato"/>
              </a:defRPr>
            </a:pPr>
            <a:r>
              <a:t>Reps self-select higher-value deals over volume — explains gap but masks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A82"/>
                </a:solidFill>
                <a:latin typeface="Lato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Lato"/>
              </a:defRPr>
            </a:pPr>
            <a:r>
              <a:t>21% of the team is still ramping — fully ramped AEs deliver 2.2x better pipeline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82"/>
                </a:solidFill>
                <a:latin typeface="Lato"/>
              </a:defRPr>
            </a:pPr>
            <a:r>
              <a:t>17 AEs in ramp (0-3mo)  |  18 AEs early (4-6mo)  |  46 AEs fully ramped (7mo+)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772400" cy="3657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3_r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589520" cy="33938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120640"/>
            <a:ext cx="502920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BF3B"/>
                </a:solidFill>
                <a:latin typeface="Lato"/>
              </a:defRPr>
            </a:pPr>
            <a:r>
              <a:t>Attainment by Ramp Stage</a:t>
            </a:r>
          </a:p>
        </p:txBody>
      </p:sp>
      <p:pic>
        <p:nvPicPr>
          <p:cNvPr id="8" name="Picture 7" descr="s3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94960"/>
            <a:ext cx="4846320" cy="23715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280160"/>
            <a:ext cx="3383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3898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396E4"/>
                </a:solidFill>
                <a:latin typeface="Lato"/>
              </a:defRPr>
            </a:pPr>
            <a:r>
              <a:t>10 of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82"/>
                </a:solidFill>
                <a:latin typeface="Lato"/>
              </a:defRPr>
            </a:pPr>
            <a:r>
              <a:t>NA AEs ramping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745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0A0A"/>
                </a:solidFill>
                <a:latin typeface="Lato"/>
              </a:defRPr>
            </a:pPr>
            <a:r>
              <a:t>North America Ramp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214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Only 46% of NA is fully ramped vs. 71% in LATAM and 69% in EMEA.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971800"/>
            <a:ext cx="3383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815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BF3B"/>
                </a:solidFill>
                <a:latin typeface="Lato"/>
              </a:defRPr>
            </a:pPr>
            <a:r>
              <a:t>2.2x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172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82"/>
                </a:solidFill>
                <a:latin typeface="Lato"/>
              </a:defRPr>
            </a:pPr>
            <a:r>
              <a:t>Pipeline 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0A0A"/>
                </a:solidFill>
                <a:latin typeface="Lato"/>
              </a:defRPr>
            </a:pPr>
            <a:r>
              <a:t>Pipeline Multiplier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81304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Fully ramped AEs at 89.9% pipeline vs. 41.2% for ramping — retention and ramp acceleration are highest-leverage.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663440"/>
            <a:ext cx="33832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4773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A8A82"/>
                </a:solidFill>
                <a:latin typeface="Lato"/>
              </a:defRPr>
            </a:pPr>
            <a:r>
              <a:t>r = 0.37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864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82"/>
                </a:solidFill>
                <a:latin typeface="Lato"/>
              </a:defRPr>
            </a:pPr>
            <a:r>
              <a:t>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2578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0A0A"/>
                </a:solidFill>
                <a:latin typeface="Lato"/>
              </a:defRPr>
            </a:pPr>
            <a:r>
              <a:t>Tenure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50468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Moderate positive correlation between tenure and pipeline. Coaching quality and territory likely play larger roles than tenure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A82"/>
                </a:solidFill>
                <a:latin typeface="Lato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Lato"/>
              </a:defRPr>
            </a:pPr>
            <a:r>
              <a:t>39% of fully ramped AEs hit target, but 15% are below 50% — a tail that needs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82"/>
                </a:solidFill>
                <a:latin typeface="Lato"/>
              </a:defRPr>
            </a:pPr>
            <a:r>
              <a:t>Quadrant analysis and pipeline distribution for 46 fully ramped Account Executives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658368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4_qu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6492240" cy="48403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280160"/>
            <a:ext cx="475488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3898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BF3B"/>
                </a:solidFill>
                <a:latin typeface="Lato"/>
              </a:defRPr>
            </a:pPr>
            <a:r>
              <a:t>Pipeline Attainment Distribution</a:t>
            </a:r>
          </a:p>
        </p:txBody>
      </p:sp>
      <p:pic>
        <p:nvPicPr>
          <p:cNvPr id="8" name="Picture 7" descr="s4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4663440" cy="272813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23760" y="4206240"/>
            <a:ext cx="47548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4315968"/>
            <a:ext cx="1828800" cy="274320"/>
          </a:xfrm>
          <a:prstGeom prst="roundRect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3342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Lato"/>
              </a:defRPr>
            </a:pPr>
            <a:r>
              <a:t>TOP 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681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0A0A"/>
                </a:solidFill>
                <a:latin typeface="Lato"/>
              </a:defRPr>
            </a:pPr>
            <a:r>
              <a:t>123496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6817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LATAM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6817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BF3B"/>
                </a:solidFill>
                <a:latin typeface="Lato"/>
              </a:defRPr>
            </a:pPr>
            <a:r>
              <a:t>196%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681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82"/>
                </a:solidFill>
                <a:latin typeface="Lato"/>
              </a:defRPr>
            </a:pPr>
            <a:r>
              <a:t>SQL 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6817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82"/>
                </a:solidFill>
                <a:latin typeface="Lato"/>
              </a:defRPr>
            </a:pPr>
            <a:r>
              <a:t>14mo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6817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396E4"/>
                </a:solidFill>
                <a:latin typeface="Lato"/>
              </a:defRPr>
            </a:pPr>
            <a:r>
              <a:t>$698K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50292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0A0A"/>
                </a:solidFill>
                <a:latin typeface="Lato"/>
              </a:defRPr>
            </a:pPr>
            <a:r>
              <a:t>123512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029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029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BF3B"/>
                </a:solidFill>
                <a:latin typeface="Lato"/>
              </a:defRPr>
            </a:pPr>
            <a:r>
              <a:t>149%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5029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82"/>
                </a:solidFill>
                <a:latin typeface="Lato"/>
              </a:defRPr>
            </a:pPr>
            <a:r>
              <a:t>SQL 63%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5029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82"/>
                </a:solidFill>
                <a:latin typeface="Lato"/>
              </a:defRPr>
            </a:pPr>
            <a:r>
              <a:t>13mo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396E4"/>
                </a:solidFill>
                <a:latin typeface="Lato"/>
              </a:defRPr>
            </a:pPr>
            <a:r>
              <a:t>$979K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3766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0A0A"/>
                </a:solidFill>
                <a:latin typeface="Lato"/>
              </a:defRPr>
            </a:pPr>
            <a:r>
              <a:t>123498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76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LATAM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376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BF3B"/>
                </a:solidFill>
                <a:latin typeface="Lato"/>
              </a:defRPr>
            </a:pPr>
            <a:r>
              <a:t>141%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376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82"/>
                </a:solidFill>
                <a:latin typeface="Lato"/>
              </a:defRPr>
            </a:pPr>
            <a:r>
              <a:t>SQL 63%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5376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8A82"/>
                </a:solidFill>
                <a:latin typeface="Lato"/>
              </a:defRPr>
            </a:pPr>
            <a:r>
              <a:t>10mo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53766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396E4"/>
                </a:solidFill>
                <a:latin typeface="Lato"/>
              </a:defRPr>
            </a:pPr>
            <a:r>
              <a:t>$743K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89320"/>
            <a:ext cx="114300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6053328"/>
            <a:ext cx="1097280" cy="274320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716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Lato"/>
              </a:defRPr>
            </a:pPr>
            <a:r>
              <a:t>AT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60533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123474 (APAC, 5%, 7mo)    |    123465 (EMEA, 19%, 7mo)    |    123497 (LATAM, 25%, 8mo)    |    123482 (APAC, 43%, 11mo)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A82"/>
                </a:solidFill>
                <a:latin typeface="Lato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Lato"/>
              </a:defRPr>
            </a:pPr>
            <a:r>
              <a:t>Five hypotheses to validate — each requires specific data to confirm or rule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82"/>
                </a:solidFill>
                <a:latin typeface="Lato"/>
              </a:defRPr>
            </a:pPr>
            <a:r>
              <a:t>Structured investigation framework to move from observation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435608"/>
            <a:ext cx="457200" cy="457200"/>
          </a:xfrm>
          <a:prstGeom prst="ellipse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SQL targets are miscalibrated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57.7% SQL attainment while pipeline reaches 78.7%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1527048"/>
            <a:ext cx="457200" cy="274320"/>
          </a:xfrm>
          <a:prstGeom prst="rightArrow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258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BF3B"/>
                </a:solidFill>
                <a:latin typeface="Lato"/>
              </a:defRPr>
            </a:pPr>
            <a:r>
              <a:t>VALIDATE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8191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Historical SQL trends, market sizing, ICP penetration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32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77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APAC has structural issues beyond ramp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97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Even fully ramped at only 71.3%; two reps near-zero with 6+ months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86400" y="2578608"/>
            <a:ext cx="457200" cy="274320"/>
          </a:xfrm>
          <a:prstGeom prst="rightArrow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BF3B"/>
                </a:solidFill>
                <a:latin typeface="Lato"/>
              </a:defRPr>
            </a:pPr>
            <a:r>
              <a:t>VALIDATE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33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Win/loss analysis, competitive landscape, product-market fit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538728"/>
            <a:ext cx="457200" cy="457200"/>
          </a:xfrm>
          <a:prstGeom prst="ellipse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4290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Recent hiring wave dilutes aggregate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49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17 of 81 AEs (21%) are ramping; NA has 10 of 17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486400" y="3630168"/>
            <a:ext cx="457200" cy="274320"/>
          </a:xfrm>
          <a:prstGeom prst="rightArrow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429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BF3B"/>
                </a:solidFill>
                <a:latin typeface="Lato"/>
              </a:defRPr>
            </a:pPr>
            <a:r>
              <a:t>VALIDATE WITH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850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Hiring dates, planned ramp timelines, onboarding effectiveness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590288"/>
            <a:ext cx="457200" cy="457200"/>
          </a:xfrm>
          <a:prstGeom prst="ellipse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360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Lato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480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Top performers master large-deal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00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LATAM/NA avg deals $558K-$570K vs. $437K EMEA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486400" y="4681728"/>
            <a:ext cx="457200" cy="274320"/>
          </a:xfrm>
          <a:prstGeom prst="rightArrow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4805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BF3B"/>
                </a:solidFill>
                <a:latin typeface="Lato"/>
              </a:defRPr>
            </a:pPr>
            <a:r>
              <a:t>VALIDATE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7365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Deal-level data, vertical breakdown, expansion vs. new logo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440679"/>
            <a:ext cx="112471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5641847"/>
            <a:ext cx="457200" cy="457200"/>
          </a:xfrm>
          <a:prstGeom prst="ellipse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6875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A0A"/>
                </a:solidFill>
                <a:latin typeface="Lato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53211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Bottom performers need formal intervention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85215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7 fully ramped AEs below 50% pipeline attainment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486400" y="5733287"/>
            <a:ext cx="457200" cy="274320"/>
          </a:xfrm>
          <a:prstGeom prst="rightArrow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5532119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BF3B"/>
                </a:solidFill>
                <a:latin typeface="Lato"/>
              </a:defRPr>
            </a:pPr>
            <a:r>
              <a:t>VALIDATE WITH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78815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Manager mapping, coaching logs, PIP history, activity metrics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A82"/>
                </a:solidFill>
                <a:latin typeface="Lato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0A0A"/>
                </a:solidFill>
                <a:latin typeface="Lato"/>
              </a:defRPr>
            </a:pPr>
            <a:r>
              <a:t>Prioritized action plan: recalibrate, fix APAC, manage performance, accelerate 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82"/>
                </a:solidFill>
                <a:latin typeface="Lato"/>
              </a:defRPr>
            </a:pPr>
            <a:r>
              <a:t>Time-phased recommendations organized by expected impact</a:t>
            </a:r>
          </a:p>
        </p:txBody>
      </p:sp>
      <p:sp>
        <p:nvSpPr>
          <p:cNvPr id="4" name="Chevron 3"/>
          <p:cNvSpPr/>
          <p:nvPr/>
        </p:nvSpPr>
        <p:spPr>
          <a:xfrm>
            <a:off x="457200" y="1280160"/>
            <a:ext cx="3657600" cy="502920"/>
          </a:xfrm>
          <a:prstGeom prst="chevron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07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35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A0A0A"/>
                </a:solidFill>
                <a:latin typeface="Lato"/>
              </a:defRPr>
            </a:pPr>
            <a:r>
              <a:t>0-30 Days</a:t>
            </a:r>
          </a:p>
        </p:txBody>
      </p:sp>
      <p:sp>
        <p:nvSpPr>
          <p:cNvPr id="7" name="Chevron 6"/>
          <p:cNvSpPr/>
          <p:nvPr/>
        </p:nvSpPr>
        <p:spPr>
          <a:xfrm>
            <a:off x="4297680" y="1280160"/>
            <a:ext cx="3657600" cy="502920"/>
          </a:xfrm>
          <a:prstGeom prst="chevron">
            <a:avLst/>
          </a:prstGeom>
          <a:solidFill>
            <a:srgbClr val="9ED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07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Lato"/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35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0A0A0A"/>
                </a:solidFill>
                <a:latin typeface="Lato"/>
              </a:defRPr>
            </a:pPr>
            <a:r>
              <a:t>30-60 Days</a:t>
            </a:r>
          </a:p>
        </p:txBody>
      </p:sp>
      <p:sp>
        <p:nvSpPr>
          <p:cNvPr id="10" name="Chevron 9"/>
          <p:cNvSpPr/>
          <p:nvPr/>
        </p:nvSpPr>
        <p:spPr>
          <a:xfrm>
            <a:off x="8138160" y="1280160"/>
            <a:ext cx="3749039" cy="502920"/>
          </a:xfrm>
          <a:prstGeom prst="chevron">
            <a:avLst/>
          </a:prstGeom>
          <a:solidFill>
            <a:srgbClr val="8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07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Lato"/>
              </a:defRPr>
            </a:pPr>
            <a:r>
              <a:t>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599" y="13350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Lato"/>
              </a:defRPr>
            </a:pPr>
            <a:r>
              <a:t>60-90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36118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21408"/>
            <a:ext cx="731520" cy="274320"/>
          </a:xfrm>
          <a:prstGeom prst="roundRect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396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Lato"/>
              </a:defRPr>
            </a:pPr>
            <a: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Audit SQL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Conduct bottoms-up capacity model. The 21pp gap is structural, not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36118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675888"/>
            <a:ext cx="731520" cy="274320"/>
          </a:xfrm>
          <a:prstGeom prst="roundRect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Lato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Deep-dive APAC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Product-market fit, competitive review, enablement. Individual plans for reps &lt;50%.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36118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230368"/>
            <a:ext cx="731520" cy="274320"/>
          </a:xfrm>
          <a:prstGeom prst="roundRect">
            <a:avLst/>
          </a:prstGeom>
          <a:solidFill>
            <a:srgbClr val="BEF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4865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Lato"/>
              </a:defRPr>
            </a:pPr>
            <a: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Performance-manage bottom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97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Structured conversations for 7 fully ramped AEs &lt;50% pipeline. Coach, adjust, or PIP.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011680"/>
            <a:ext cx="36118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2121408"/>
            <a:ext cx="731520" cy="274320"/>
          </a:xfrm>
          <a:prstGeom prst="roundRect">
            <a:avLst/>
          </a:prstGeom>
          <a:solidFill>
            <a:srgbClr val="9ED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1396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Lato"/>
              </a:defRPr>
            </a:pPr>
            <a:r>
              <a:t>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Accelerate Ramp Programs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Buddy programs with top performers, territory playbooks, milestone targets. 21% ramping is significant drag.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566160"/>
            <a:ext cx="36118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80560" y="3675888"/>
            <a:ext cx="731520" cy="274320"/>
          </a:xfrm>
          <a:prstGeom prst="roundRect">
            <a:avLst/>
          </a:prstGeom>
          <a:solidFill>
            <a:srgbClr val="9ED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36941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Lato"/>
              </a:defRPr>
            </a:pPr>
            <a:r>
              <a:t>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Build Deal Quality Metric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Pipeline/SQL, Win Rate, Avg Deal Size — composite score to normalize cross-territory comparison.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011680"/>
            <a:ext cx="3703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21040" y="2121408"/>
            <a:ext cx="731520" cy="274320"/>
          </a:xfrm>
          <a:prstGeom prst="roundRect">
            <a:avLst/>
          </a:prstGeom>
          <a:solidFill>
            <a:srgbClr val="8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1396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Lato"/>
              </a:defRPr>
            </a:pPr>
            <a:r>
              <a:t>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Territory Redesign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788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Quotas range $10M-$12.5M while deal sizes vary 30%. Ensure equitable targets.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566160"/>
            <a:ext cx="3703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21040" y="3675888"/>
            <a:ext cx="731520" cy="274320"/>
          </a:xfrm>
          <a:prstGeom prst="roundRect">
            <a:avLst/>
          </a:prstGeom>
          <a:solidFill>
            <a:srgbClr val="8A8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36941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Lato"/>
              </a:defRPr>
            </a:pPr>
            <a:r>
              <a:t>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0A0A"/>
                </a:solidFill>
                <a:latin typeface="Lato"/>
              </a:defRPr>
            </a:pPr>
            <a:r>
              <a:t>Monitor NA Hiring Cohort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343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  <a:latin typeface="Lato"/>
              </a:defRPr>
            </a:pPr>
            <a:r>
              <a:t>10 ramping reps is a big bet. Validate manager bandwidth, lead flow, enablement.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6217920"/>
            <a:ext cx="11430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  <a:latin typeface="Lato"/>
              </a:defRPr>
            </a:pPr>
            <a:r>
              <a:t>Expected outcome:  Recalibrated targets within 30 days  →  APAC stabilized by Q1  →  Bottom cohort resolved  →  Ramp time reduced 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8A82"/>
                </a:solidFill>
                <a:latin typeface="Lato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